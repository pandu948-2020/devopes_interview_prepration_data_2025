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Wedges" charset="1" panose="02000500000000000000"/>
      <p:regular r:id="rId31"/>
    </p:embeddedFont>
    <p:embeddedFont>
      <p:font typeface="Jella" charset="1" panose="00000000000000000000"/>
      <p:regular r:id="rId32"/>
    </p:embeddedFont>
    <p:embeddedFont>
      <p:font typeface="Poppins" charset="1" panose="00000500000000000000"/>
      <p:regular r:id="rId33"/>
    </p:embeddedFont>
    <p:embeddedFont>
      <p:font typeface="Muli" charset="1" panose="00000500000000000000"/>
      <p:regular r:id="rId34"/>
    </p:embeddedFont>
    <p:embeddedFont>
      <p:font typeface="Jella Bold" charset="1" panose="00000000000000000000"/>
      <p:regular r:id="rId35"/>
    </p:embeddedFont>
    <p:embeddedFont>
      <p:font typeface="Muli Bold" charset="1" panose="000008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20.png" Type="http://schemas.openxmlformats.org/officeDocument/2006/relationships/image"/><Relationship Id="rId12" Target="../media/image21.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3020850" y="1771950"/>
            <a:ext cx="12246300" cy="6271126"/>
          </a:xfrm>
          <a:custGeom>
            <a:avLst/>
            <a:gdLst/>
            <a:ahLst/>
            <a:cxnLst/>
            <a:rect r="r" b="b" t="t" l="l"/>
            <a:pathLst>
              <a:path h="6271126" w="12246300">
                <a:moveTo>
                  <a:pt x="0" y="0"/>
                </a:moveTo>
                <a:lnTo>
                  <a:pt x="12246300" y="0"/>
                </a:lnTo>
                <a:lnTo>
                  <a:pt x="12246300" y="6271127"/>
                </a:lnTo>
                <a:lnTo>
                  <a:pt x="0" y="62711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6143268" y="-3984217"/>
            <a:ext cx="10801253" cy="5756168"/>
          </a:xfrm>
          <a:custGeom>
            <a:avLst/>
            <a:gdLst/>
            <a:ahLst/>
            <a:cxnLst/>
            <a:rect r="r" b="b" t="t" l="l"/>
            <a:pathLst>
              <a:path h="5756168" w="10801253">
                <a:moveTo>
                  <a:pt x="10801252" y="0"/>
                </a:moveTo>
                <a:lnTo>
                  <a:pt x="0" y="0"/>
                </a:lnTo>
                <a:lnTo>
                  <a:pt x="0" y="5756167"/>
                </a:lnTo>
                <a:lnTo>
                  <a:pt x="10801252" y="5756167"/>
                </a:lnTo>
                <a:lnTo>
                  <a:pt x="10801252"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8656520" y="-3984217"/>
            <a:ext cx="10801253" cy="5756168"/>
          </a:xfrm>
          <a:custGeom>
            <a:avLst/>
            <a:gdLst/>
            <a:ahLst/>
            <a:cxnLst/>
            <a:rect r="r" b="b" t="t" l="l"/>
            <a:pathLst>
              <a:path h="5756168" w="10801253">
                <a:moveTo>
                  <a:pt x="0" y="0"/>
                </a:moveTo>
                <a:lnTo>
                  <a:pt x="10801252" y="0"/>
                </a:lnTo>
                <a:lnTo>
                  <a:pt x="10801252" y="5756167"/>
                </a:lnTo>
                <a:lnTo>
                  <a:pt x="0" y="57561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17919" y="7641371"/>
            <a:ext cx="5496517" cy="2970409"/>
          </a:xfrm>
          <a:custGeom>
            <a:avLst/>
            <a:gdLst/>
            <a:ahLst/>
            <a:cxnLst/>
            <a:rect r="r" b="b" t="t" l="l"/>
            <a:pathLst>
              <a:path h="2970409" w="5496517">
                <a:moveTo>
                  <a:pt x="0" y="0"/>
                </a:moveTo>
                <a:lnTo>
                  <a:pt x="5496517" y="0"/>
                </a:lnTo>
                <a:lnTo>
                  <a:pt x="5496517" y="2970409"/>
                </a:lnTo>
                <a:lnTo>
                  <a:pt x="0" y="29704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false" rot="0">
            <a:off x="14309402" y="7641371"/>
            <a:ext cx="5496517" cy="2970409"/>
          </a:xfrm>
          <a:custGeom>
            <a:avLst/>
            <a:gdLst/>
            <a:ahLst/>
            <a:cxnLst/>
            <a:rect r="r" b="b" t="t" l="l"/>
            <a:pathLst>
              <a:path h="2970409" w="5496517">
                <a:moveTo>
                  <a:pt x="5496517" y="0"/>
                </a:moveTo>
                <a:lnTo>
                  <a:pt x="0" y="0"/>
                </a:lnTo>
                <a:lnTo>
                  <a:pt x="0" y="2970409"/>
                </a:lnTo>
                <a:lnTo>
                  <a:pt x="5496517" y="2970409"/>
                </a:lnTo>
                <a:lnTo>
                  <a:pt x="5496517"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8" id="8"/>
          <p:cNvSpPr/>
          <p:nvPr/>
        </p:nvSpPr>
        <p:spPr>
          <a:xfrm flipH="true" flipV="false" rot="0">
            <a:off x="13027894" y="5540254"/>
            <a:ext cx="1177117" cy="901826"/>
          </a:xfrm>
          <a:custGeom>
            <a:avLst/>
            <a:gdLst/>
            <a:ahLst/>
            <a:cxnLst/>
            <a:rect r="r" b="b" t="t" l="l"/>
            <a:pathLst>
              <a:path h="901826" w="1177117">
                <a:moveTo>
                  <a:pt x="1177116" y="0"/>
                </a:moveTo>
                <a:lnTo>
                  <a:pt x="0" y="0"/>
                </a:lnTo>
                <a:lnTo>
                  <a:pt x="0" y="901826"/>
                </a:lnTo>
                <a:lnTo>
                  <a:pt x="1177116" y="901826"/>
                </a:lnTo>
                <a:lnTo>
                  <a:pt x="1177116"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4180238" y="3362185"/>
            <a:ext cx="9927524" cy="2536190"/>
          </a:xfrm>
          <a:prstGeom prst="rect">
            <a:avLst/>
          </a:prstGeom>
        </p:spPr>
        <p:txBody>
          <a:bodyPr anchor="t" rtlCol="false" tIns="0" lIns="0" bIns="0" rIns="0">
            <a:spAutoFit/>
          </a:bodyPr>
          <a:lstStyle/>
          <a:p>
            <a:pPr algn="ctr" marL="0" indent="0" lvl="0">
              <a:lnSpc>
                <a:spcPts val="10029"/>
              </a:lnSpc>
              <a:spcBef>
                <a:spcPct val="0"/>
              </a:spcBef>
            </a:pPr>
            <a:r>
              <a:rPr lang="en-US" sz="8499" spc="475">
                <a:solidFill>
                  <a:srgbClr val="65503D"/>
                </a:solidFill>
                <a:latin typeface="Wedges"/>
                <a:ea typeface="Wedges"/>
                <a:cs typeface="Wedges"/>
                <a:sym typeface="Wedges"/>
              </a:rPr>
              <a:t>INTERVIEW</a:t>
            </a:r>
          </a:p>
          <a:p>
            <a:pPr algn="ctr" marL="0" indent="0" lvl="0">
              <a:lnSpc>
                <a:spcPts val="10029"/>
              </a:lnSpc>
              <a:spcBef>
                <a:spcPct val="0"/>
              </a:spcBef>
            </a:pPr>
            <a:r>
              <a:rPr lang="en-US" sz="8499" spc="475" strike="noStrike" u="none">
                <a:solidFill>
                  <a:srgbClr val="65503D"/>
                </a:solidFill>
                <a:latin typeface="Wedges"/>
                <a:ea typeface="Wedges"/>
                <a:cs typeface="Wedges"/>
                <a:sym typeface="Wedges"/>
              </a:rPr>
              <a:t>EXPERIENCE</a:t>
            </a:r>
          </a:p>
        </p:txBody>
      </p:sp>
      <p:sp>
        <p:nvSpPr>
          <p:cNvPr name="Freeform 10" id="10"/>
          <p:cNvSpPr/>
          <p:nvPr/>
        </p:nvSpPr>
        <p:spPr>
          <a:xfrm flipH="false" flipV="false" rot="-840127">
            <a:off x="4990922" y="3104301"/>
            <a:ext cx="1199384" cy="1172589"/>
          </a:xfrm>
          <a:custGeom>
            <a:avLst/>
            <a:gdLst/>
            <a:ahLst/>
            <a:cxnLst/>
            <a:rect r="r" b="b" t="t" l="l"/>
            <a:pathLst>
              <a:path h="1172589" w="1199384">
                <a:moveTo>
                  <a:pt x="0" y="0"/>
                </a:moveTo>
                <a:lnTo>
                  <a:pt x="1199384" y="0"/>
                </a:lnTo>
                <a:lnTo>
                  <a:pt x="1199384" y="1172588"/>
                </a:lnTo>
                <a:lnTo>
                  <a:pt x="0" y="117258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1" id="11"/>
          <p:cNvSpPr txBox="true"/>
          <p:nvPr/>
        </p:nvSpPr>
        <p:spPr>
          <a:xfrm rot="0">
            <a:off x="6241224" y="5946649"/>
            <a:ext cx="5805552" cy="882650"/>
          </a:xfrm>
          <a:prstGeom prst="rect">
            <a:avLst/>
          </a:prstGeom>
        </p:spPr>
        <p:txBody>
          <a:bodyPr anchor="t" rtlCol="false" tIns="0" lIns="0" bIns="0" rIns="0">
            <a:spAutoFit/>
          </a:bodyPr>
          <a:lstStyle/>
          <a:p>
            <a:pPr algn="ctr">
              <a:lnSpc>
                <a:spcPts val="4900"/>
              </a:lnSpc>
            </a:pPr>
            <a:r>
              <a:rPr lang="en-US" sz="3500">
                <a:solidFill>
                  <a:srgbClr val="65503D"/>
                </a:solidFill>
                <a:latin typeface="Jella"/>
                <a:ea typeface="Jella"/>
                <a:cs typeface="Jella"/>
                <a:sym typeface="Jella"/>
              </a:rPr>
              <a:t>by MicroDegree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644F3D"/>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05720" y="1170762"/>
            <a:ext cx="15876560" cy="7945476"/>
            <a:chOff x="0" y="0"/>
            <a:chExt cx="4181481" cy="2092636"/>
          </a:xfrm>
        </p:grpSpPr>
        <p:sp>
          <p:nvSpPr>
            <p:cNvPr name="Freeform 7" id="7"/>
            <p:cNvSpPr/>
            <p:nvPr/>
          </p:nvSpPr>
          <p:spPr>
            <a:xfrm flipH="false" flipV="false" rot="0">
              <a:off x="0" y="0"/>
              <a:ext cx="4181481" cy="2092636"/>
            </a:xfrm>
            <a:custGeom>
              <a:avLst/>
              <a:gdLst/>
              <a:ahLst/>
              <a:cxnLst/>
              <a:rect r="r" b="b" t="t" l="l"/>
              <a:pathLst>
                <a:path h="2092636" w="4181481">
                  <a:moveTo>
                    <a:pt x="0" y="0"/>
                  </a:moveTo>
                  <a:lnTo>
                    <a:pt x="4181481" y="0"/>
                  </a:lnTo>
                  <a:lnTo>
                    <a:pt x="4181481" y="2092636"/>
                  </a:lnTo>
                  <a:lnTo>
                    <a:pt x="0" y="2092636"/>
                  </a:lnTo>
                  <a:close/>
                </a:path>
              </a:pathLst>
            </a:custGeom>
            <a:solidFill>
              <a:srgbClr val="FFFFFF"/>
            </a:solidFill>
            <a:ln w="38100" cap="sq">
              <a:solidFill>
                <a:srgbClr val="C1CE9A"/>
              </a:solidFill>
              <a:prstDash val="lgDash"/>
              <a:miter/>
            </a:ln>
          </p:spPr>
        </p:sp>
        <p:sp>
          <p:nvSpPr>
            <p:cNvPr name="TextBox 8" id="8"/>
            <p:cNvSpPr txBox="true"/>
            <p:nvPr/>
          </p:nvSpPr>
          <p:spPr>
            <a:xfrm>
              <a:off x="0" y="-38100"/>
              <a:ext cx="4181481" cy="213073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false" rot="0">
            <a:off x="292166" y="1438055"/>
            <a:ext cx="1312631" cy="837697"/>
          </a:xfrm>
          <a:custGeom>
            <a:avLst/>
            <a:gdLst/>
            <a:ahLst/>
            <a:cxnLst/>
            <a:rect r="r" b="b" t="t" l="l"/>
            <a:pathLst>
              <a:path h="837697" w="1312631">
                <a:moveTo>
                  <a:pt x="1312631" y="0"/>
                </a:moveTo>
                <a:lnTo>
                  <a:pt x="0" y="0"/>
                </a:lnTo>
                <a:lnTo>
                  <a:pt x="0" y="837697"/>
                </a:lnTo>
                <a:lnTo>
                  <a:pt x="1312631" y="837697"/>
                </a:lnTo>
                <a:lnTo>
                  <a:pt x="1312631"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0" id="10"/>
          <p:cNvSpPr/>
          <p:nvPr/>
        </p:nvSpPr>
        <p:spPr>
          <a:xfrm flipH="false" flipV="false" rot="0">
            <a:off x="1604797" y="308481"/>
            <a:ext cx="1581824" cy="1009491"/>
          </a:xfrm>
          <a:custGeom>
            <a:avLst/>
            <a:gdLst/>
            <a:ahLst/>
            <a:cxnLst/>
            <a:rect r="r" b="b" t="t" l="l"/>
            <a:pathLst>
              <a:path h="1009491" w="1581824">
                <a:moveTo>
                  <a:pt x="0" y="0"/>
                </a:moveTo>
                <a:lnTo>
                  <a:pt x="1581824" y="0"/>
                </a:lnTo>
                <a:lnTo>
                  <a:pt x="1581824" y="1009491"/>
                </a:lnTo>
                <a:lnTo>
                  <a:pt x="0" y="10094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1" id="11"/>
          <p:cNvSpPr/>
          <p:nvPr/>
        </p:nvSpPr>
        <p:spPr>
          <a:xfrm flipH="true" flipV="false" rot="0">
            <a:off x="16143268" y="-3984217"/>
            <a:ext cx="10801253" cy="5756168"/>
          </a:xfrm>
          <a:custGeom>
            <a:avLst/>
            <a:gdLst/>
            <a:ahLst/>
            <a:cxnLst/>
            <a:rect r="r" b="b" t="t" l="l"/>
            <a:pathLst>
              <a:path h="5756168" w="10801253">
                <a:moveTo>
                  <a:pt x="10801252" y="0"/>
                </a:moveTo>
                <a:lnTo>
                  <a:pt x="0" y="0"/>
                </a:lnTo>
                <a:lnTo>
                  <a:pt x="0" y="5756167"/>
                </a:lnTo>
                <a:lnTo>
                  <a:pt x="10801252" y="5756167"/>
                </a:lnTo>
                <a:lnTo>
                  <a:pt x="10801252"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8656520" y="-3984217"/>
            <a:ext cx="10801253" cy="5756168"/>
          </a:xfrm>
          <a:custGeom>
            <a:avLst/>
            <a:gdLst/>
            <a:ahLst/>
            <a:cxnLst/>
            <a:rect r="r" b="b" t="t" l="l"/>
            <a:pathLst>
              <a:path h="5756168" w="10801253">
                <a:moveTo>
                  <a:pt x="0" y="0"/>
                </a:moveTo>
                <a:lnTo>
                  <a:pt x="10801252" y="0"/>
                </a:lnTo>
                <a:lnTo>
                  <a:pt x="10801252" y="5756167"/>
                </a:lnTo>
                <a:lnTo>
                  <a:pt x="0" y="57561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4180238" y="1660448"/>
            <a:ext cx="9927524" cy="1133475"/>
          </a:xfrm>
          <a:prstGeom prst="rect">
            <a:avLst/>
          </a:prstGeom>
        </p:spPr>
        <p:txBody>
          <a:bodyPr anchor="t" rtlCol="false" tIns="0" lIns="0" bIns="0" rIns="0">
            <a:spAutoFit/>
          </a:bodyPr>
          <a:lstStyle/>
          <a:p>
            <a:pPr algn="ctr">
              <a:lnSpc>
                <a:spcPts val="8850"/>
              </a:lnSpc>
            </a:pPr>
            <a:r>
              <a:rPr lang="en-US" sz="7500" spc="420">
                <a:solidFill>
                  <a:srgbClr val="65503D"/>
                </a:solidFill>
                <a:latin typeface="Wedges"/>
                <a:ea typeface="Wedges"/>
                <a:cs typeface="Wedges"/>
                <a:sym typeface="Wedges"/>
              </a:rPr>
              <a:t>QUESTION-1</a:t>
            </a:r>
          </a:p>
        </p:txBody>
      </p:sp>
      <p:sp>
        <p:nvSpPr>
          <p:cNvPr name="TextBox 14" id="14"/>
          <p:cNvSpPr txBox="true"/>
          <p:nvPr/>
        </p:nvSpPr>
        <p:spPr>
          <a:xfrm rot="0">
            <a:off x="2803853" y="5819522"/>
            <a:ext cx="12680293" cy="2111376"/>
          </a:xfrm>
          <a:prstGeom prst="rect">
            <a:avLst/>
          </a:prstGeom>
        </p:spPr>
        <p:txBody>
          <a:bodyPr anchor="t" rtlCol="false" tIns="0" lIns="0" bIns="0" rIns="0">
            <a:spAutoFit/>
          </a:bodyPr>
          <a:lstStyle/>
          <a:p>
            <a:pPr algn="ctr">
              <a:lnSpc>
                <a:spcPts val="4899"/>
              </a:lnSpc>
            </a:pPr>
            <a:r>
              <a:rPr lang="en-US" sz="3499">
                <a:solidFill>
                  <a:srgbClr val="76ADFF"/>
                </a:solidFill>
                <a:latin typeface="Jella"/>
                <a:ea typeface="Jella"/>
                <a:cs typeface="Jella"/>
                <a:sym typeface="Jella"/>
              </a:rPr>
              <a:t>1) For Freshers : </a:t>
            </a:r>
          </a:p>
          <a:p>
            <a:pPr algn="ctr">
              <a:lnSpc>
                <a:spcPts val="4899"/>
              </a:lnSpc>
            </a:pPr>
            <a:r>
              <a:rPr lang="en-US" sz="3499">
                <a:solidFill>
                  <a:srgbClr val="76ADFF"/>
                </a:solidFill>
                <a:latin typeface="Jella"/>
                <a:ea typeface="Jella"/>
                <a:cs typeface="Jella"/>
                <a:sym typeface="Jella"/>
              </a:rPr>
              <a:t>2) for Experienced : </a:t>
            </a:r>
          </a:p>
          <a:p>
            <a:pPr algn="ctr">
              <a:lnSpc>
                <a:spcPts val="4899"/>
              </a:lnSpc>
            </a:pPr>
            <a:r>
              <a:rPr lang="en-US" sz="3499">
                <a:solidFill>
                  <a:srgbClr val="76ADFF"/>
                </a:solidFill>
                <a:latin typeface="Jella"/>
                <a:ea typeface="Jella"/>
                <a:cs typeface="Jella"/>
                <a:sym typeface="Jella"/>
              </a:rPr>
              <a:t>3) Time : Max. 50 seconds</a:t>
            </a:r>
          </a:p>
        </p:txBody>
      </p:sp>
      <p:sp>
        <p:nvSpPr>
          <p:cNvPr name="Freeform 15" id="15"/>
          <p:cNvSpPr/>
          <p:nvPr/>
        </p:nvSpPr>
        <p:spPr>
          <a:xfrm flipH="false" flipV="false" rot="0">
            <a:off x="16143268" y="7552514"/>
            <a:ext cx="1793964" cy="1144875"/>
          </a:xfrm>
          <a:custGeom>
            <a:avLst/>
            <a:gdLst/>
            <a:ahLst/>
            <a:cxnLst/>
            <a:rect r="r" b="b" t="t" l="l"/>
            <a:pathLst>
              <a:path h="1144875" w="1793964">
                <a:moveTo>
                  <a:pt x="0" y="0"/>
                </a:moveTo>
                <a:lnTo>
                  <a:pt x="1793964" y="0"/>
                </a:lnTo>
                <a:lnTo>
                  <a:pt x="1793964" y="1144875"/>
                </a:lnTo>
                <a:lnTo>
                  <a:pt x="0" y="11448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6" id="16"/>
          <p:cNvSpPr/>
          <p:nvPr/>
        </p:nvSpPr>
        <p:spPr>
          <a:xfrm flipH="false" flipV="false" rot="0">
            <a:off x="-2469220" y="7641371"/>
            <a:ext cx="5496517" cy="2970409"/>
          </a:xfrm>
          <a:custGeom>
            <a:avLst/>
            <a:gdLst/>
            <a:ahLst/>
            <a:cxnLst/>
            <a:rect r="r" b="b" t="t" l="l"/>
            <a:pathLst>
              <a:path h="2970409" w="5496517">
                <a:moveTo>
                  <a:pt x="0" y="0"/>
                </a:moveTo>
                <a:lnTo>
                  <a:pt x="5496517" y="0"/>
                </a:lnTo>
                <a:lnTo>
                  <a:pt x="5496517" y="2970409"/>
                </a:lnTo>
                <a:lnTo>
                  <a:pt x="0" y="29704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true" flipV="false" rot="0">
            <a:off x="15260703" y="7641371"/>
            <a:ext cx="5496517" cy="2970409"/>
          </a:xfrm>
          <a:custGeom>
            <a:avLst/>
            <a:gdLst/>
            <a:ahLst/>
            <a:cxnLst/>
            <a:rect r="r" b="b" t="t" l="l"/>
            <a:pathLst>
              <a:path h="2970409" w="5496517">
                <a:moveTo>
                  <a:pt x="5496517" y="0"/>
                </a:moveTo>
                <a:lnTo>
                  <a:pt x="0" y="0"/>
                </a:lnTo>
                <a:lnTo>
                  <a:pt x="0" y="2970409"/>
                </a:lnTo>
                <a:lnTo>
                  <a:pt x="5496517" y="2970409"/>
                </a:lnTo>
                <a:lnTo>
                  <a:pt x="5496517"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18" id="18"/>
          <p:cNvSpPr txBox="true"/>
          <p:nvPr/>
        </p:nvSpPr>
        <p:spPr>
          <a:xfrm rot="0">
            <a:off x="2395709" y="3849522"/>
            <a:ext cx="13296564" cy="1200150"/>
          </a:xfrm>
          <a:prstGeom prst="rect">
            <a:avLst/>
          </a:prstGeom>
        </p:spPr>
        <p:txBody>
          <a:bodyPr anchor="t" rtlCol="false" tIns="0" lIns="0" bIns="0" rIns="0">
            <a:spAutoFit/>
          </a:bodyPr>
          <a:lstStyle/>
          <a:p>
            <a:pPr algn="ctr">
              <a:lnSpc>
                <a:spcPts val="8850"/>
              </a:lnSpc>
            </a:pPr>
            <a:r>
              <a:rPr lang="en-US" sz="7500" spc="420">
                <a:solidFill>
                  <a:srgbClr val="76ADFF"/>
                </a:solidFill>
                <a:latin typeface="Poppins"/>
                <a:ea typeface="Poppins"/>
                <a:cs typeface="Poppins"/>
                <a:sym typeface="Poppins"/>
              </a:rPr>
              <a:t>Tell me about your’self?</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644F3D"/>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05720" y="1170762"/>
            <a:ext cx="15876560" cy="7945476"/>
            <a:chOff x="0" y="0"/>
            <a:chExt cx="4181481" cy="2092636"/>
          </a:xfrm>
        </p:grpSpPr>
        <p:sp>
          <p:nvSpPr>
            <p:cNvPr name="Freeform 7" id="7"/>
            <p:cNvSpPr/>
            <p:nvPr/>
          </p:nvSpPr>
          <p:spPr>
            <a:xfrm flipH="false" flipV="false" rot="0">
              <a:off x="0" y="0"/>
              <a:ext cx="4181481" cy="2092636"/>
            </a:xfrm>
            <a:custGeom>
              <a:avLst/>
              <a:gdLst/>
              <a:ahLst/>
              <a:cxnLst/>
              <a:rect r="r" b="b" t="t" l="l"/>
              <a:pathLst>
                <a:path h="2092636" w="4181481">
                  <a:moveTo>
                    <a:pt x="0" y="0"/>
                  </a:moveTo>
                  <a:lnTo>
                    <a:pt x="4181481" y="0"/>
                  </a:lnTo>
                  <a:lnTo>
                    <a:pt x="4181481" y="2092636"/>
                  </a:lnTo>
                  <a:lnTo>
                    <a:pt x="0" y="2092636"/>
                  </a:lnTo>
                  <a:close/>
                </a:path>
              </a:pathLst>
            </a:custGeom>
            <a:solidFill>
              <a:srgbClr val="FFFFFF"/>
            </a:solidFill>
            <a:ln w="38100" cap="sq">
              <a:solidFill>
                <a:srgbClr val="C1CE9A"/>
              </a:solidFill>
              <a:prstDash val="lgDash"/>
              <a:miter/>
            </a:ln>
          </p:spPr>
        </p:sp>
        <p:sp>
          <p:nvSpPr>
            <p:cNvPr name="TextBox 8" id="8"/>
            <p:cNvSpPr txBox="true"/>
            <p:nvPr/>
          </p:nvSpPr>
          <p:spPr>
            <a:xfrm>
              <a:off x="0" y="-38100"/>
              <a:ext cx="4181481" cy="213073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false" rot="0">
            <a:off x="16143268" y="-3984217"/>
            <a:ext cx="10801253" cy="5756168"/>
          </a:xfrm>
          <a:custGeom>
            <a:avLst/>
            <a:gdLst/>
            <a:ahLst/>
            <a:cxnLst/>
            <a:rect r="r" b="b" t="t" l="l"/>
            <a:pathLst>
              <a:path h="5756168" w="10801253">
                <a:moveTo>
                  <a:pt x="10801252" y="0"/>
                </a:moveTo>
                <a:lnTo>
                  <a:pt x="0" y="0"/>
                </a:lnTo>
                <a:lnTo>
                  <a:pt x="0" y="5756167"/>
                </a:lnTo>
                <a:lnTo>
                  <a:pt x="10801252" y="5756167"/>
                </a:lnTo>
                <a:lnTo>
                  <a:pt x="1080125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false" rot="0">
            <a:off x="292166" y="1438055"/>
            <a:ext cx="1312631" cy="837697"/>
          </a:xfrm>
          <a:custGeom>
            <a:avLst/>
            <a:gdLst/>
            <a:ahLst/>
            <a:cxnLst/>
            <a:rect r="r" b="b" t="t" l="l"/>
            <a:pathLst>
              <a:path h="837697" w="1312631">
                <a:moveTo>
                  <a:pt x="1312631" y="0"/>
                </a:moveTo>
                <a:lnTo>
                  <a:pt x="0" y="0"/>
                </a:lnTo>
                <a:lnTo>
                  <a:pt x="0" y="837697"/>
                </a:lnTo>
                <a:lnTo>
                  <a:pt x="1312631" y="837697"/>
                </a:lnTo>
                <a:lnTo>
                  <a:pt x="1312631"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1" id="11"/>
          <p:cNvSpPr/>
          <p:nvPr/>
        </p:nvSpPr>
        <p:spPr>
          <a:xfrm flipH="false" flipV="false" rot="0">
            <a:off x="1604797" y="308481"/>
            <a:ext cx="1581824" cy="1009491"/>
          </a:xfrm>
          <a:custGeom>
            <a:avLst/>
            <a:gdLst/>
            <a:ahLst/>
            <a:cxnLst/>
            <a:rect r="r" b="b" t="t" l="l"/>
            <a:pathLst>
              <a:path h="1009491" w="1581824">
                <a:moveTo>
                  <a:pt x="0" y="0"/>
                </a:moveTo>
                <a:lnTo>
                  <a:pt x="1581824" y="0"/>
                </a:lnTo>
                <a:lnTo>
                  <a:pt x="1581824" y="1009491"/>
                </a:lnTo>
                <a:lnTo>
                  <a:pt x="0" y="10094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2" id="12"/>
          <p:cNvSpPr/>
          <p:nvPr/>
        </p:nvSpPr>
        <p:spPr>
          <a:xfrm flipH="false" flipV="false" rot="0">
            <a:off x="16143268" y="7552514"/>
            <a:ext cx="1793964" cy="1144875"/>
          </a:xfrm>
          <a:custGeom>
            <a:avLst/>
            <a:gdLst/>
            <a:ahLst/>
            <a:cxnLst/>
            <a:rect r="r" b="b" t="t" l="l"/>
            <a:pathLst>
              <a:path h="1144875" w="1793964">
                <a:moveTo>
                  <a:pt x="0" y="0"/>
                </a:moveTo>
                <a:lnTo>
                  <a:pt x="1793964" y="0"/>
                </a:lnTo>
                <a:lnTo>
                  <a:pt x="1793964" y="1144875"/>
                </a:lnTo>
                <a:lnTo>
                  <a:pt x="0" y="11448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3" id="13"/>
          <p:cNvSpPr/>
          <p:nvPr/>
        </p:nvSpPr>
        <p:spPr>
          <a:xfrm flipH="false" flipV="false" rot="0">
            <a:off x="-8656520" y="-3984217"/>
            <a:ext cx="10801253" cy="5756168"/>
          </a:xfrm>
          <a:custGeom>
            <a:avLst/>
            <a:gdLst/>
            <a:ahLst/>
            <a:cxnLst/>
            <a:rect r="r" b="b" t="t" l="l"/>
            <a:pathLst>
              <a:path h="5756168" w="10801253">
                <a:moveTo>
                  <a:pt x="0" y="0"/>
                </a:moveTo>
                <a:lnTo>
                  <a:pt x="10801252" y="0"/>
                </a:lnTo>
                <a:lnTo>
                  <a:pt x="10801252" y="5756167"/>
                </a:lnTo>
                <a:lnTo>
                  <a:pt x="0" y="5756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4180238" y="1866429"/>
            <a:ext cx="9927524" cy="1133475"/>
          </a:xfrm>
          <a:prstGeom prst="rect">
            <a:avLst/>
          </a:prstGeom>
        </p:spPr>
        <p:txBody>
          <a:bodyPr anchor="t" rtlCol="false" tIns="0" lIns="0" bIns="0" rIns="0">
            <a:spAutoFit/>
          </a:bodyPr>
          <a:lstStyle/>
          <a:p>
            <a:pPr algn="ctr">
              <a:lnSpc>
                <a:spcPts val="8850"/>
              </a:lnSpc>
            </a:pPr>
            <a:r>
              <a:rPr lang="en-US" sz="7500" spc="420">
                <a:solidFill>
                  <a:srgbClr val="65503D"/>
                </a:solidFill>
                <a:latin typeface="Wedges"/>
                <a:ea typeface="Wedges"/>
                <a:cs typeface="Wedges"/>
                <a:sym typeface="Wedges"/>
              </a:rPr>
              <a:t>ANSWER-FRESHER</a:t>
            </a:r>
          </a:p>
        </p:txBody>
      </p:sp>
      <p:sp>
        <p:nvSpPr>
          <p:cNvPr name="TextBox 15" id="15"/>
          <p:cNvSpPr txBox="true"/>
          <p:nvPr/>
        </p:nvSpPr>
        <p:spPr>
          <a:xfrm rot="0">
            <a:off x="1412999" y="3804738"/>
            <a:ext cx="15462003" cy="3428988"/>
          </a:xfrm>
          <a:prstGeom prst="rect">
            <a:avLst/>
          </a:prstGeom>
        </p:spPr>
        <p:txBody>
          <a:bodyPr anchor="t" rtlCol="false" tIns="0" lIns="0" bIns="0" rIns="0">
            <a:spAutoFit/>
          </a:bodyPr>
          <a:lstStyle/>
          <a:p>
            <a:pPr algn="l">
              <a:lnSpc>
                <a:spcPts val="4200"/>
              </a:lnSpc>
            </a:pPr>
            <a:r>
              <a:rPr lang="en-US" sz="3000">
                <a:solidFill>
                  <a:srgbClr val="000000"/>
                </a:solidFill>
                <a:latin typeface="Jella"/>
                <a:ea typeface="Jella"/>
                <a:cs typeface="Jella"/>
                <a:sym typeface="Jella"/>
              </a:rPr>
              <a:t> ““Thank you for the opportunity. My name is &lt;---&gt; and I recently completed my Bachelor’s in &lt;---&gt; I’ve built hands-on experience with AWS services like EC2, S3, IAM, and VPC through projects and labs, and I’m comfortable with Linux, Git, and basic scripting. I’m interested in Cloud Engineering and excited to apply my skills, learn from real-world environments, and contribute to building secure and scalable cloud solutions.””</a:t>
            </a:r>
          </a:p>
        </p:txBody>
      </p:sp>
      <p:sp>
        <p:nvSpPr>
          <p:cNvPr name="Freeform 16" id="16"/>
          <p:cNvSpPr/>
          <p:nvPr/>
        </p:nvSpPr>
        <p:spPr>
          <a:xfrm flipH="false" flipV="false" rot="0">
            <a:off x="-2748258" y="8124952"/>
            <a:ext cx="5496517" cy="2970409"/>
          </a:xfrm>
          <a:custGeom>
            <a:avLst/>
            <a:gdLst/>
            <a:ahLst/>
            <a:cxnLst/>
            <a:rect r="r" b="b" t="t" l="l"/>
            <a:pathLst>
              <a:path h="2970409" w="5496517">
                <a:moveTo>
                  <a:pt x="0" y="0"/>
                </a:moveTo>
                <a:lnTo>
                  <a:pt x="5496516" y="0"/>
                </a:lnTo>
                <a:lnTo>
                  <a:pt x="5496516" y="2970409"/>
                </a:lnTo>
                <a:lnTo>
                  <a:pt x="0" y="29704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true" flipV="false" rot="0">
            <a:off x="15772622" y="8124952"/>
            <a:ext cx="5496517" cy="2970409"/>
          </a:xfrm>
          <a:custGeom>
            <a:avLst/>
            <a:gdLst/>
            <a:ahLst/>
            <a:cxnLst/>
            <a:rect r="r" b="b" t="t" l="l"/>
            <a:pathLst>
              <a:path h="2970409" w="5496517">
                <a:moveTo>
                  <a:pt x="5496517" y="0"/>
                </a:moveTo>
                <a:lnTo>
                  <a:pt x="0" y="0"/>
                </a:lnTo>
                <a:lnTo>
                  <a:pt x="0" y="2970409"/>
                </a:lnTo>
                <a:lnTo>
                  <a:pt x="5496517" y="2970409"/>
                </a:lnTo>
                <a:lnTo>
                  <a:pt x="5496517"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644F3D"/>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05720" y="1170762"/>
            <a:ext cx="15876560" cy="7945476"/>
            <a:chOff x="0" y="0"/>
            <a:chExt cx="4181481" cy="2092636"/>
          </a:xfrm>
        </p:grpSpPr>
        <p:sp>
          <p:nvSpPr>
            <p:cNvPr name="Freeform 7" id="7"/>
            <p:cNvSpPr/>
            <p:nvPr/>
          </p:nvSpPr>
          <p:spPr>
            <a:xfrm flipH="false" flipV="false" rot="0">
              <a:off x="0" y="0"/>
              <a:ext cx="4181481" cy="2092636"/>
            </a:xfrm>
            <a:custGeom>
              <a:avLst/>
              <a:gdLst/>
              <a:ahLst/>
              <a:cxnLst/>
              <a:rect r="r" b="b" t="t" l="l"/>
              <a:pathLst>
                <a:path h="2092636" w="4181481">
                  <a:moveTo>
                    <a:pt x="0" y="0"/>
                  </a:moveTo>
                  <a:lnTo>
                    <a:pt x="4181481" y="0"/>
                  </a:lnTo>
                  <a:lnTo>
                    <a:pt x="4181481" y="2092636"/>
                  </a:lnTo>
                  <a:lnTo>
                    <a:pt x="0" y="2092636"/>
                  </a:lnTo>
                  <a:close/>
                </a:path>
              </a:pathLst>
            </a:custGeom>
            <a:solidFill>
              <a:srgbClr val="FFFFFF"/>
            </a:solidFill>
            <a:ln w="38100" cap="sq">
              <a:solidFill>
                <a:srgbClr val="C1CE9A"/>
              </a:solidFill>
              <a:prstDash val="lgDash"/>
              <a:miter/>
            </a:ln>
          </p:spPr>
        </p:sp>
        <p:sp>
          <p:nvSpPr>
            <p:cNvPr name="TextBox 8" id="8"/>
            <p:cNvSpPr txBox="true"/>
            <p:nvPr/>
          </p:nvSpPr>
          <p:spPr>
            <a:xfrm>
              <a:off x="0" y="-38100"/>
              <a:ext cx="4181481" cy="213073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false" rot="0">
            <a:off x="16143268" y="-3984217"/>
            <a:ext cx="10801253" cy="5756168"/>
          </a:xfrm>
          <a:custGeom>
            <a:avLst/>
            <a:gdLst/>
            <a:ahLst/>
            <a:cxnLst/>
            <a:rect r="r" b="b" t="t" l="l"/>
            <a:pathLst>
              <a:path h="5756168" w="10801253">
                <a:moveTo>
                  <a:pt x="10801252" y="0"/>
                </a:moveTo>
                <a:lnTo>
                  <a:pt x="0" y="0"/>
                </a:lnTo>
                <a:lnTo>
                  <a:pt x="0" y="5756167"/>
                </a:lnTo>
                <a:lnTo>
                  <a:pt x="10801252" y="5756167"/>
                </a:lnTo>
                <a:lnTo>
                  <a:pt x="1080125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false" rot="0">
            <a:off x="292166" y="1438055"/>
            <a:ext cx="1312631" cy="837697"/>
          </a:xfrm>
          <a:custGeom>
            <a:avLst/>
            <a:gdLst/>
            <a:ahLst/>
            <a:cxnLst/>
            <a:rect r="r" b="b" t="t" l="l"/>
            <a:pathLst>
              <a:path h="837697" w="1312631">
                <a:moveTo>
                  <a:pt x="1312631" y="0"/>
                </a:moveTo>
                <a:lnTo>
                  <a:pt x="0" y="0"/>
                </a:lnTo>
                <a:lnTo>
                  <a:pt x="0" y="837697"/>
                </a:lnTo>
                <a:lnTo>
                  <a:pt x="1312631" y="837697"/>
                </a:lnTo>
                <a:lnTo>
                  <a:pt x="1312631"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1" id="11"/>
          <p:cNvSpPr/>
          <p:nvPr/>
        </p:nvSpPr>
        <p:spPr>
          <a:xfrm flipH="false" flipV="false" rot="0">
            <a:off x="1604797" y="308481"/>
            <a:ext cx="1581824" cy="1009491"/>
          </a:xfrm>
          <a:custGeom>
            <a:avLst/>
            <a:gdLst/>
            <a:ahLst/>
            <a:cxnLst/>
            <a:rect r="r" b="b" t="t" l="l"/>
            <a:pathLst>
              <a:path h="1009491" w="1581824">
                <a:moveTo>
                  <a:pt x="0" y="0"/>
                </a:moveTo>
                <a:lnTo>
                  <a:pt x="1581824" y="0"/>
                </a:lnTo>
                <a:lnTo>
                  <a:pt x="1581824" y="1009491"/>
                </a:lnTo>
                <a:lnTo>
                  <a:pt x="0" y="10094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2" id="12"/>
          <p:cNvSpPr/>
          <p:nvPr/>
        </p:nvSpPr>
        <p:spPr>
          <a:xfrm flipH="false" flipV="false" rot="0">
            <a:off x="16143268" y="7552514"/>
            <a:ext cx="1793964" cy="1144875"/>
          </a:xfrm>
          <a:custGeom>
            <a:avLst/>
            <a:gdLst/>
            <a:ahLst/>
            <a:cxnLst/>
            <a:rect r="r" b="b" t="t" l="l"/>
            <a:pathLst>
              <a:path h="1144875" w="1793964">
                <a:moveTo>
                  <a:pt x="0" y="0"/>
                </a:moveTo>
                <a:lnTo>
                  <a:pt x="1793964" y="0"/>
                </a:lnTo>
                <a:lnTo>
                  <a:pt x="1793964" y="1144875"/>
                </a:lnTo>
                <a:lnTo>
                  <a:pt x="0" y="11448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3" id="13"/>
          <p:cNvSpPr/>
          <p:nvPr/>
        </p:nvSpPr>
        <p:spPr>
          <a:xfrm flipH="false" flipV="false" rot="0">
            <a:off x="-8656520" y="-3984217"/>
            <a:ext cx="10801253" cy="5756168"/>
          </a:xfrm>
          <a:custGeom>
            <a:avLst/>
            <a:gdLst/>
            <a:ahLst/>
            <a:cxnLst/>
            <a:rect r="r" b="b" t="t" l="l"/>
            <a:pathLst>
              <a:path h="5756168" w="10801253">
                <a:moveTo>
                  <a:pt x="0" y="0"/>
                </a:moveTo>
                <a:lnTo>
                  <a:pt x="10801252" y="0"/>
                </a:lnTo>
                <a:lnTo>
                  <a:pt x="10801252" y="5756167"/>
                </a:lnTo>
                <a:lnTo>
                  <a:pt x="0" y="5756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4180238" y="1447580"/>
            <a:ext cx="9927524" cy="1133475"/>
          </a:xfrm>
          <a:prstGeom prst="rect">
            <a:avLst/>
          </a:prstGeom>
        </p:spPr>
        <p:txBody>
          <a:bodyPr anchor="t" rtlCol="false" tIns="0" lIns="0" bIns="0" rIns="0">
            <a:spAutoFit/>
          </a:bodyPr>
          <a:lstStyle/>
          <a:p>
            <a:pPr algn="ctr">
              <a:lnSpc>
                <a:spcPts val="8850"/>
              </a:lnSpc>
            </a:pPr>
            <a:r>
              <a:rPr lang="en-US" sz="7500" spc="420">
                <a:solidFill>
                  <a:srgbClr val="65503D"/>
                </a:solidFill>
                <a:latin typeface="Wedges"/>
                <a:ea typeface="Wedges"/>
                <a:cs typeface="Wedges"/>
                <a:sym typeface="Wedges"/>
              </a:rPr>
              <a:t>ANSWER-EXP(3-5).</a:t>
            </a:r>
          </a:p>
        </p:txBody>
      </p:sp>
      <p:sp>
        <p:nvSpPr>
          <p:cNvPr name="Freeform 15" id="15"/>
          <p:cNvSpPr/>
          <p:nvPr/>
        </p:nvSpPr>
        <p:spPr>
          <a:xfrm flipH="false" flipV="false" rot="0">
            <a:off x="1258087" y="3280969"/>
            <a:ext cx="1137622" cy="1063203"/>
          </a:xfrm>
          <a:custGeom>
            <a:avLst/>
            <a:gdLst/>
            <a:ahLst/>
            <a:cxnLst/>
            <a:rect r="r" b="b" t="t" l="l"/>
            <a:pathLst>
              <a:path h="1063203" w="1137622">
                <a:moveTo>
                  <a:pt x="0" y="0"/>
                </a:moveTo>
                <a:lnTo>
                  <a:pt x="1137622" y="0"/>
                </a:lnTo>
                <a:lnTo>
                  <a:pt x="1137622" y="1063203"/>
                </a:lnTo>
                <a:lnTo>
                  <a:pt x="0" y="106320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6" id="16"/>
          <p:cNvSpPr txBox="true"/>
          <p:nvPr/>
        </p:nvSpPr>
        <p:spPr>
          <a:xfrm rot="0">
            <a:off x="2437739" y="2601439"/>
            <a:ext cx="14644541" cy="6095950"/>
          </a:xfrm>
          <a:prstGeom prst="rect">
            <a:avLst/>
          </a:prstGeom>
        </p:spPr>
        <p:txBody>
          <a:bodyPr anchor="t" rtlCol="false" tIns="0" lIns="0" bIns="0" rIns="0">
            <a:spAutoFit/>
          </a:bodyPr>
          <a:lstStyle/>
          <a:p>
            <a:pPr algn="l">
              <a:lnSpc>
                <a:spcPts val="4202"/>
              </a:lnSpc>
            </a:pPr>
            <a:r>
              <a:rPr lang="en-US" sz="3001">
                <a:solidFill>
                  <a:srgbClr val="65503D"/>
                </a:solidFill>
                <a:latin typeface="Jella"/>
                <a:ea typeface="Jella"/>
                <a:cs typeface="Jella"/>
                <a:sym typeface="Jella"/>
              </a:rPr>
              <a:t> My Name is....I’m a Cloud/DevOps Engineer with X+ years of experience in building scalable, highly available, and automated cloud infrastructure. I specialize in AWS, CI/CD pipelines using Jenkins &amp; GitHub Actions, containerization with Docker, orchestration using Kubernetes/EKS, and Infrastructure as Code with Terraform.</a:t>
            </a:r>
          </a:p>
          <a:p>
            <a:pPr algn="l">
              <a:lnSpc>
                <a:spcPts val="4202"/>
              </a:lnSpc>
            </a:pPr>
            <a:r>
              <a:rPr lang="en-US" sz="3001">
                <a:solidFill>
                  <a:srgbClr val="65503D"/>
                </a:solidFill>
                <a:latin typeface="Jella"/>
                <a:ea typeface="Jella"/>
                <a:cs typeface="Jella"/>
                <a:sym typeface="Jella"/>
              </a:rPr>
              <a:t> In my current/previous role, I automated end-to-end deployment workflows, reduced deployment time by ___%, improved monitoring with CloudWatch &amp; Prometheus, and managed production-grade environments with a strong focus on reliability and security.</a:t>
            </a:r>
          </a:p>
          <a:p>
            <a:pPr algn="l">
              <a:lnSpc>
                <a:spcPts val="4202"/>
              </a:lnSpc>
            </a:pPr>
            <a:r>
              <a:rPr lang="en-US" sz="3001">
                <a:solidFill>
                  <a:srgbClr val="65503D"/>
                </a:solidFill>
                <a:latin typeface="Jella"/>
                <a:ea typeface="Jella"/>
                <a:cs typeface="Jella"/>
                <a:sym typeface="Jella"/>
              </a:rPr>
              <a:t> I enjoy working in fast-paced environments and solving complex infrastructure challenges.”</a:t>
            </a:r>
          </a:p>
        </p:txBody>
      </p:sp>
      <p:sp>
        <p:nvSpPr>
          <p:cNvPr name="Freeform 17" id="17"/>
          <p:cNvSpPr/>
          <p:nvPr/>
        </p:nvSpPr>
        <p:spPr>
          <a:xfrm flipH="false" flipV="false" rot="0">
            <a:off x="1258087" y="5058394"/>
            <a:ext cx="1137622" cy="1063203"/>
          </a:xfrm>
          <a:custGeom>
            <a:avLst/>
            <a:gdLst/>
            <a:ahLst/>
            <a:cxnLst/>
            <a:rect r="r" b="b" t="t" l="l"/>
            <a:pathLst>
              <a:path h="1063203" w="1137622">
                <a:moveTo>
                  <a:pt x="0" y="0"/>
                </a:moveTo>
                <a:lnTo>
                  <a:pt x="1137622" y="0"/>
                </a:lnTo>
                <a:lnTo>
                  <a:pt x="1137622" y="1063203"/>
                </a:lnTo>
                <a:lnTo>
                  <a:pt x="0" y="106320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1258087" y="7020913"/>
            <a:ext cx="1137622" cy="1063203"/>
          </a:xfrm>
          <a:custGeom>
            <a:avLst/>
            <a:gdLst/>
            <a:ahLst/>
            <a:cxnLst/>
            <a:rect r="r" b="b" t="t" l="l"/>
            <a:pathLst>
              <a:path h="1063203" w="1137622">
                <a:moveTo>
                  <a:pt x="0" y="0"/>
                </a:moveTo>
                <a:lnTo>
                  <a:pt x="1137622" y="0"/>
                </a:lnTo>
                <a:lnTo>
                  <a:pt x="1137622" y="1063202"/>
                </a:lnTo>
                <a:lnTo>
                  <a:pt x="0" y="106320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2469220" y="7641371"/>
            <a:ext cx="5496517" cy="2970409"/>
          </a:xfrm>
          <a:custGeom>
            <a:avLst/>
            <a:gdLst/>
            <a:ahLst/>
            <a:cxnLst/>
            <a:rect r="r" b="b" t="t" l="l"/>
            <a:pathLst>
              <a:path h="2970409" w="5496517">
                <a:moveTo>
                  <a:pt x="0" y="0"/>
                </a:moveTo>
                <a:lnTo>
                  <a:pt x="5496517" y="0"/>
                </a:lnTo>
                <a:lnTo>
                  <a:pt x="5496517" y="2970409"/>
                </a:lnTo>
                <a:lnTo>
                  <a:pt x="0" y="297040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true" flipV="false" rot="0">
            <a:off x="15260703" y="7641371"/>
            <a:ext cx="5496517" cy="2970409"/>
          </a:xfrm>
          <a:custGeom>
            <a:avLst/>
            <a:gdLst/>
            <a:ahLst/>
            <a:cxnLst/>
            <a:rect r="r" b="b" t="t" l="l"/>
            <a:pathLst>
              <a:path h="2970409" w="5496517">
                <a:moveTo>
                  <a:pt x="5496517" y="0"/>
                </a:moveTo>
                <a:lnTo>
                  <a:pt x="0" y="0"/>
                </a:lnTo>
                <a:lnTo>
                  <a:pt x="0" y="2970409"/>
                </a:lnTo>
                <a:lnTo>
                  <a:pt x="5496517" y="2970409"/>
                </a:lnTo>
                <a:lnTo>
                  <a:pt x="5496517"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809650" y="161375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644F3D"/>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05720" y="1170762"/>
            <a:ext cx="15876560" cy="7189786"/>
            <a:chOff x="0" y="0"/>
            <a:chExt cx="4181481" cy="1893606"/>
          </a:xfrm>
        </p:grpSpPr>
        <p:sp>
          <p:nvSpPr>
            <p:cNvPr name="Freeform 7" id="7"/>
            <p:cNvSpPr/>
            <p:nvPr/>
          </p:nvSpPr>
          <p:spPr>
            <a:xfrm flipH="false" flipV="false" rot="0">
              <a:off x="0" y="0"/>
              <a:ext cx="4181481" cy="1893606"/>
            </a:xfrm>
            <a:custGeom>
              <a:avLst/>
              <a:gdLst/>
              <a:ahLst/>
              <a:cxnLst/>
              <a:rect r="r" b="b" t="t" l="l"/>
              <a:pathLst>
                <a:path h="1893606" w="4181481">
                  <a:moveTo>
                    <a:pt x="0" y="0"/>
                  </a:moveTo>
                  <a:lnTo>
                    <a:pt x="4181481" y="0"/>
                  </a:lnTo>
                  <a:lnTo>
                    <a:pt x="4181481" y="1893606"/>
                  </a:lnTo>
                  <a:lnTo>
                    <a:pt x="0" y="1893606"/>
                  </a:lnTo>
                  <a:close/>
                </a:path>
              </a:pathLst>
            </a:custGeom>
            <a:solidFill>
              <a:srgbClr val="FFFFFF"/>
            </a:solidFill>
            <a:ln w="38100" cap="sq">
              <a:solidFill>
                <a:srgbClr val="C1CE9A"/>
              </a:solidFill>
              <a:prstDash val="lgDash"/>
              <a:miter/>
            </a:ln>
          </p:spPr>
        </p:sp>
        <p:sp>
          <p:nvSpPr>
            <p:cNvPr name="TextBox 8" id="8"/>
            <p:cNvSpPr txBox="true"/>
            <p:nvPr/>
          </p:nvSpPr>
          <p:spPr>
            <a:xfrm>
              <a:off x="0" y="-38100"/>
              <a:ext cx="4181481" cy="193170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false" rot="0">
            <a:off x="292166" y="1438055"/>
            <a:ext cx="1312631" cy="837697"/>
          </a:xfrm>
          <a:custGeom>
            <a:avLst/>
            <a:gdLst/>
            <a:ahLst/>
            <a:cxnLst/>
            <a:rect r="r" b="b" t="t" l="l"/>
            <a:pathLst>
              <a:path h="837697" w="1312631">
                <a:moveTo>
                  <a:pt x="1312631" y="0"/>
                </a:moveTo>
                <a:lnTo>
                  <a:pt x="0" y="0"/>
                </a:lnTo>
                <a:lnTo>
                  <a:pt x="0" y="837697"/>
                </a:lnTo>
                <a:lnTo>
                  <a:pt x="1312631" y="837697"/>
                </a:lnTo>
                <a:lnTo>
                  <a:pt x="1312631"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0" id="10"/>
          <p:cNvSpPr/>
          <p:nvPr/>
        </p:nvSpPr>
        <p:spPr>
          <a:xfrm flipH="false" flipV="false" rot="0">
            <a:off x="1604797" y="308481"/>
            <a:ext cx="1581824" cy="1009491"/>
          </a:xfrm>
          <a:custGeom>
            <a:avLst/>
            <a:gdLst/>
            <a:ahLst/>
            <a:cxnLst/>
            <a:rect r="r" b="b" t="t" l="l"/>
            <a:pathLst>
              <a:path h="1009491" w="1581824">
                <a:moveTo>
                  <a:pt x="0" y="0"/>
                </a:moveTo>
                <a:lnTo>
                  <a:pt x="1581824" y="0"/>
                </a:lnTo>
                <a:lnTo>
                  <a:pt x="1581824" y="1009491"/>
                </a:lnTo>
                <a:lnTo>
                  <a:pt x="0" y="10094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1" id="11"/>
          <p:cNvSpPr/>
          <p:nvPr/>
        </p:nvSpPr>
        <p:spPr>
          <a:xfrm flipH="false" flipV="false" rot="0">
            <a:off x="16143268" y="7552514"/>
            <a:ext cx="1793964" cy="1144875"/>
          </a:xfrm>
          <a:custGeom>
            <a:avLst/>
            <a:gdLst/>
            <a:ahLst/>
            <a:cxnLst/>
            <a:rect r="r" b="b" t="t" l="l"/>
            <a:pathLst>
              <a:path h="1144875" w="1793964">
                <a:moveTo>
                  <a:pt x="0" y="0"/>
                </a:moveTo>
                <a:lnTo>
                  <a:pt x="1793964" y="0"/>
                </a:lnTo>
                <a:lnTo>
                  <a:pt x="1793964" y="1144875"/>
                </a:lnTo>
                <a:lnTo>
                  <a:pt x="0" y="11448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2" id="12"/>
          <p:cNvSpPr/>
          <p:nvPr/>
        </p:nvSpPr>
        <p:spPr>
          <a:xfrm flipH="true" flipV="false" rot="0">
            <a:off x="16143268" y="-3984217"/>
            <a:ext cx="10801253" cy="5756168"/>
          </a:xfrm>
          <a:custGeom>
            <a:avLst/>
            <a:gdLst/>
            <a:ahLst/>
            <a:cxnLst/>
            <a:rect r="r" b="b" t="t" l="l"/>
            <a:pathLst>
              <a:path h="5756168" w="10801253">
                <a:moveTo>
                  <a:pt x="10801252" y="0"/>
                </a:moveTo>
                <a:lnTo>
                  <a:pt x="0" y="0"/>
                </a:lnTo>
                <a:lnTo>
                  <a:pt x="0" y="5756167"/>
                </a:lnTo>
                <a:lnTo>
                  <a:pt x="10801252" y="5756167"/>
                </a:lnTo>
                <a:lnTo>
                  <a:pt x="10801252"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8656520" y="-3984217"/>
            <a:ext cx="10801253" cy="5756168"/>
          </a:xfrm>
          <a:custGeom>
            <a:avLst/>
            <a:gdLst/>
            <a:ahLst/>
            <a:cxnLst/>
            <a:rect r="r" b="b" t="t" l="l"/>
            <a:pathLst>
              <a:path h="5756168" w="10801253">
                <a:moveTo>
                  <a:pt x="0" y="0"/>
                </a:moveTo>
                <a:lnTo>
                  <a:pt x="10801252" y="0"/>
                </a:lnTo>
                <a:lnTo>
                  <a:pt x="10801252" y="5756167"/>
                </a:lnTo>
                <a:lnTo>
                  <a:pt x="0" y="57561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4180238" y="1866429"/>
            <a:ext cx="9927524" cy="1133475"/>
          </a:xfrm>
          <a:prstGeom prst="rect">
            <a:avLst/>
          </a:prstGeom>
        </p:spPr>
        <p:txBody>
          <a:bodyPr anchor="t" rtlCol="false" tIns="0" lIns="0" bIns="0" rIns="0">
            <a:spAutoFit/>
          </a:bodyPr>
          <a:lstStyle/>
          <a:p>
            <a:pPr algn="ctr">
              <a:lnSpc>
                <a:spcPts val="8850"/>
              </a:lnSpc>
            </a:pPr>
            <a:r>
              <a:rPr lang="en-US" sz="7500" spc="420">
                <a:solidFill>
                  <a:srgbClr val="65503D"/>
                </a:solidFill>
                <a:latin typeface="Wedges"/>
                <a:ea typeface="Wedges"/>
                <a:cs typeface="Wedges"/>
                <a:sym typeface="Wedges"/>
              </a:rPr>
              <a:t>QUESTION-2</a:t>
            </a:r>
          </a:p>
        </p:txBody>
      </p:sp>
      <p:sp>
        <p:nvSpPr>
          <p:cNvPr name="Freeform 15" id="15"/>
          <p:cNvSpPr/>
          <p:nvPr/>
        </p:nvSpPr>
        <p:spPr>
          <a:xfrm flipH="false" flipV="false" rot="0">
            <a:off x="-2469220" y="7641371"/>
            <a:ext cx="5496517" cy="2970409"/>
          </a:xfrm>
          <a:custGeom>
            <a:avLst/>
            <a:gdLst/>
            <a:ahLst/>
            <a:cxnLst/>
            <a:rect r="r" b="b" t="t" l="l"/>
            <a:pathLst>
              <a:path h="2970409" w="5496517">
                <a:moveTo>
                  <a:pt x="0" y="0"/>
                </a:moveTo>
                <a:lnTo>
                  <a:pt x="5496517" y="0"/>
                </a:lnTo>
                <a:lnTo>
                  <a:pt x="5496517" y="2970409"/>
                </a:lnTo>
                <a:lnTo>
                  <a:pt x="0" y="29704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true" flipV="false" rot="0">
            <a:off x="15260703" y="7641371"/>
            <a:ext cx="5496517" cy="2970409"/>
          </a:xfrm>
          <a:custGeom>
            <a:avLst/>
            <a:gdLst/>
            <a:ahLst/>
            <a:cxnLst/>
            <a:rect r="r" b="b" t="t" l="l"/>
            <a:pathLst>
              <a:path h="2970409" w="5496517">
                <a:moveTo>
                  <a:pt x="5496517" y="0"/>
                </a:moveTo>
                <a:lnTo>
                  <a:pt x="0" y="0"/>
                </a:lnTo>
                <a:lnTo>
                  <a:pt x="0" y="2970409"/>
                </a:lnTo>
                <a:lnTo>
                  <a:pt x="5496517" y="2970409"/>
                </a:lnTo>
                <a:lnTo>
                  <a:pt x="5496517"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17" id="17"/>
          <p:cNvSpPr txBox="true"/>
          <p:nvPr/>
        </p:nvSpPr>
        <p:spPr>
          <a:xfrm rot="0">
            <a:off x="1925682" y="4679930"/>
            <a:ext cx="15114568" cy="1500507"/>
          </a:xfrm>
          <a:prstGeom prst="rect">
            <a:avLst/>
          </a:prstGeom>
        </p:spPr>
        <p:txBody>
          <a:bodyPr anchor="t" rtlCol="false" tIns="0" lIns="0" bIns="0" rIns="0">
            <a:spAutoFit/>
          </a:bodyPr>
          <a:lstStyle/>
          <a:p>
            <a:pPr algn="ctr">
              <a:lnSpc>
                <a:spcPts val="6019"/>
              </a:lnSpc>
              <a:spcBef>
                <a:spcPct val="0"/>
              </a:spcBef>
            </a:pPr>
            <a:r>
              <a:rPr lang="en-US" sz="4299">
                <a:solidFill>
                  <a:srgbClr val="65503D"/>
                </a:solidFill>
                <a:latin typeface="Muli"/>
                <a:ea typeface="Muli"/>
                <a:cs typeface="Muli"/>
                <a:sym typeface="Muli"/>
              </a:rPr>
              <a:t>What are the key security best practices for AWS EC2?</a:t>
            </a:r>
          </a:p>
          <a:p>
            <a:pPr algn="ctr">
              <a:lnSpc>
                <a:spcPts val="601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644F3D"/>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05720" y="1170762"/>
            <a:ext cx="15876560" cy="7945476"/>
            <a:chOff x="0" y="0"/>
            <a:chExt cx="4181481" cy="2092636"/>
          </a:xfrm>
        </p:grpSpPr>
        <p:sp>
          <p:nvSpPr>
            <p:cNvPr name="Freeform 7" id="7"/>
            <p:cNvSpPr/>
            <p:nvPr/>
          </p:nvSpPr>
          <p:spPr>
            <a:xfrm flipH="false" flipV="false" rot="0">
              <a:off x="0" y="0"/>
              <a:ext cx="4181481" cy="2092636"/>
            </a:xfrm>
            <a:custGeom>
              <a:avLst/>
              <a:gdLst/>
              <a:ahLst/>
              <a:cxnLst/>
              <a:rect r="r" b="b" t="t" l="l"/>
              <a:pathLst>
                <a:path h="2092636" w="4181481">
                  <a:moveTo>
                    <a:pt x="0" y="0"/>
                  </a:moveTo>
                  <a:lnTo>
                    <a:pt x="4181481" y="0"/>
                  </a:lnTo>
                  <a:lnTo>
                    <a:pt x="4181481" y="2092636"/>
                  </a:lnTo>
                  <a:lnTo>
                    <a:pt x="0" y="2092636"/>
                  </a:lnTo>
                  <a:close/>
                </a:path>
              </a:pathLst>
            </a:custGeom>
            <a:solidFill>
              <a:srgbClr val="FFFFFF"/>
            </a:solidFill>
            <a:ln w="38100" cap="sq">
              <a:solidFill>
                <a:srgbClr val="C1CE9A"/>
              </a:solidFill>
              <a:prstDash val="lgDash"/>
              <a:miter/>
            </a:ln>
          </p:spPr>
        </p:sp>
        <p:sp>
          <p:nvSpPr>
            <p:cNvPr name="TextBox 8" id="8"/>
            <p:cNvSpPr txBox="true"/>
            <p:nvPr/>
          </p:nvSpPr>
          <p:spPr>
            <a:xfrm>
              <a:off x="0" y="-38100"/>
              <a:ext cx="4181481" cy="213073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false" rot="0">
            <a:off x="16143268" y="-3984217"/>
            <a:ext cx="10801253" cy="5756168"/>
          </a:xfrm>
          <a:custGeom>
            <a:avLst/>
            <a:gdLst/>
            <a:ahLst/>
            <a:cxnLst/>
            <a:rect r="r" b="b" t="t" l="l"/>
            <a:pathLst>
              <a:path h="5756168" w="10801253">
                <a:moveTo>
                  <a:pt x="10801252" y="0"/>
                </a:moveTo>
                <a:lnTo>
                  <a:pt x="0" y="0"/>
                </a:lnTo>
                <a:lnTo>
                  <a:pt x="0" y="5756167"/>
                </a:lnTo>
                <a:lnTo>
                  <a:pt x="10801252" y="5756167"/>
                </a:lnTo>
                <a:lnTo>
                  <a:pt x="1080125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false" rot="0">
            <a:off x="292166" y="1438055"/>
            <a:ext cx="1312631" cy="837697"/>
          </a:xfrm>
          <a:custGeom>
            <a:avLst/>
            <a:gdLst/>
            <a:ahLst/>
            <a:cxnLst/>
            <a:rect r="r" b="b" t="t" l="l"/>
            <a:pathLst>
              <a:path h="837697" w="1312631">
                <a:moveTo>
                  <a:pt x="1312631" y="0"/>
                </a:moveTo>
                <a:lnTo>
                  <a:pt x="0" y="0"/>
                </a:lnTo>
                <a:lnTo>
                  <a:pt x="0" y="837697"/>
                </a:lnTo>
                <a:lnTo>
                  <a:pt x="1312631" y="837697"/>
                </a:lnTo>
                <a:lnTo>
                  <a:pt x="1312631"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1" id="11"/>
          <p:cNvSpPr/>
          <p:nvPr/>
        </p:nvSpPr>
        <p:spPr>
          <a:xfrm flipH="false" flipV="false" rot="0">
            <a:off x="1604797" y="308481"/>
            <a:ext cx="1581824" cy="1009491"/>
          </a:xfrm>
          <a:custGeom>
            <a:avLst/>
            <a:gdLst/>
            <a:ahLst/>
            <a:cxnLst/>
            <a:rect r="r" b="b" t="t" l="l"/>
            <a:pathLst>
              <a:path h="1009491" w="1581824">
                <a:moveTo>
                  <a:pt x="0" y="0"/>
                </a:moveTo>
                <a:lnTo>
                  <a:pt x="1581824" y="0"/>
                </a:lnTo>
                <a:lnTo>
                  <a:pt x="1581824" y="1009491"/>
                </a:lnTo>
                <a:lnTo>
                  <a:pt x="0" y="10094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2" id="12"/>
          <p:cNvSpPr/>
          <p:nvPr/>
        </p:nvSpPr>
        <p:spPr>
          <a:xfrm flipH="false" flipV="false" rot="0">
            <a:off x="16143268" y="7552514"/>
            <a:ext cx="1793964" cy="1144875"/>
          </a:xfrm>
          <a:custGeom>
            <a:avLst/>
            <a:gdLst/>
            <a:ahLst/>
            <a:cxnLst/>
            <a:rect r="r" b="b" t="t" l="l"/>
            <a:pathLst>
              <a:path h="1144875" w="1793964">
                <a:moveTo>
                  <a:pt x="0" y="0"/>
                </a:moveTo>
                <a:lnTo>
                  <a:pt x="1793964" y="0"/>
                </a:lnTo>
                <a:lnTo>
                  <a:pt x="1793964" y="1144875"/>
                </a:lnTo>
                <a:lnTo>
                  <a:pt x="0" y="11448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3" id="13"/>
          <p:cNvSpPr/>
          <p:nvPr/>
        </p:nvSpPr>
        <p:spPr>
          <a:xfrm flipH="false" flipV="false" rot="0">
            <a:off x="-8656520" y="-3984217"/>
            <a:ext cx="10801253" cy="5756168"/>
          </a:xfrm>
          <a:custGeom>
            <a:avLst/>
            <a:gdLst/>
            <a:ahLst/>
            <a:cxnLst/>
            <a:rect r="r" b="b" t="t" l="l"/>
            <a:pathLst>
              <a:path h="5756168" w="10801253">
                <a:moveTo>
                  <a:pt x="0" y="0"/>
                </a:moveTo>
                <a:lnTo>
                  <a:pt x="10801252" y="0"/>
                </a:lnTo>
                <a:lnTo>
                  <a:pt x="10801252" y="5756167"/>
                </a:lnTo>
                <a:lnTo>
                  <a:pt x="0" y="5756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4180238" y="1447580"/>
            <a:ext cx="9927524" cy="1133475"/>
          </a:xfrm>
          <a:prstGeom prst="rect">
            <a:avLst/>
          </a:prstGeom>
        </p:spPr>
        <p:txBody>
          <a:bodyPr anchor="t" rtlCol="false" tIns="0" lIns="0" bIns="0" rIns="0">
            <a:spAutoFit/>
          </a:bodyPr>
          <a:lstStyle/>
          <a:p>
            <a:pPr algn="ctr">
              <a:lnSpc>
                <a:spcPts val="8850"/>
              </a:lnSpc>
            </a:pPr>
            <a:r>
              <a:rPr lang="en-US" sz="7500" spc="420">
                <a:solidFill>
                  <a:srgbClr val="65503D"/>
                </a:solidFill>
                <a:latin typeface="Wedges"/>
                <a:ea typeface="Wedges"/>
                <a:cs typeface="Wedges"/>
                <a:sym typeface="Wedges"/>
              </a:rPr>
              <a:t>ANSWER</a:t>
            </a:r>
          </a:p>
        </p:txBody>
      </p:sp>
      <p:sp>
        <p:nvSpPr>
          <p:cNvPr name="AutoShape 15" id="15"/>
          <p:cNvSpPr/>
          <p:nvPr/>
        </p:nvSpPr>
        <p:spPr>
          <a:xfrm>
            <a:off x="4112682" y="2921800"/>
            <a:ext cx="10282029" cy="0"/>
          </a:xfrm>
          <a:prstGeom prst="line">
            <a:avLst/>
          </a:prstGeom>
          <a:ln cap="flat" w="38100">
            <a:solidFill>
              <a:srgbClr val="65503D"/>
            </a:solidFill>
            <a:prstDash val="solid"/>
            <a:headEnd type="none" len="sm" w="sm"/>
            <a:tailEnd type="none" len="sm" w="sm"/>
          </a:ln>
        </p:spPr>
      </p:sp>
      <p:sp>
        <p:nvSpPr>
          <p:cNvPr name="Freeform 16" id="16"/>
          <p:cNvSpPr/>
          <p:nvPr/>
        </p:nvSpPr>
        <p:spPr>
          <a:xfrm flipH="false" flipV="false" rot="0">
            <a:off x="3191269" y="2275752"/>
            <a:ext cx="1327275" cy="1253722"/>
          </a:xfrm>
          <a:custGeom>
            <a:avLst/>
            <a:gdLst/>
            <a:ahLst/>
            <a:cxnLst/>
            <a:rect r="r" b="b" t="t" l="l"/>
            <a:pathLst>
              <a:path h="1253722" w="1327275">
                <a:moveTo>
                  <a:pt x="0" y="0"/>
                </a:moveTo>
                <a:lnTo>
                  <a:pt x="1327275" y="0"/>
                </a:lnTo>
                <a:lnTo>
                  <a:pt x="1327275" y="1253722"/>
                </a:lnTo>
                <a:lnTo>
                  <a:pt x="0" y="12537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8680969" y="2294939"/>
            <a:ext cx="1327275" cy="1253722"/>
          </a:xfrm>
          <a:custGeom>
            <a:avLst/>
            <a:gdLst/>
            <a:ahLst/>
            <a:cxnLst/>
            <a:rect r="r" b="b" t="t" l="l"/>
            <a:pathLst>
              <a:path h="1253722" w="1327275">
                <a:moveTo>
                  <a:pt x="0" y="0"/>
                </a:moveTo>
                <a:lnTo>
                  <a:pt x="1327276" y="0"/>
                </a:lnTo>
                <a:lnTo>
                  <a:pt x="1327276" y="1253722"/>
                </a:lnTo>
                <a:lnTo>
                  <a:pt x="0" y="12537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14394712" y="2294939"/>
            <a:ext cx="1327275" cy="1253722"/>
          </a:xfrm>
          <a:custGeom>
            <a:avLst/>
            <a:gdLst/>
            <a:ahLst/>
            <a:cxnLst/>
            <a:rect r="r" b="b" t="t" l="l"/>
            <a:pathLst>
              <a:path h="1253722" w="1327275">
                <a:moveTo>
                  <a:pt x="0" y="0"/>
                </a:moveTo>
                <a:lnTo>
                  <a:pt x="1327275" y="0"/>
                </a:lnTo>
                <a:lnTo>
                  <a:pt x="1327275" y="1253722"/>
                </a:lnTo>
                <a:lnTo>
                  <a:pt x="0" y="12537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2469220" y="7641371"/>
            <a:ext cx="5496517" cy="2970409"/>
          </a:xfrm>
          <a:custGeom>
            <a:avLst/>
            <a:gdLst/>
            <a:ahLst/>
            <a:cxnLst/>
            <a:rect r="r" b="b" t="t" l="l"/>
            <a:pathLst>
              <a:path h="2970409" w="5496517">
                <a:moveTo>
                  <a:pt x="0" y="0"/>
                </a:moveTo>
                <a:lnTo>
                  <a:pt x="5496517" y="0"/>
                </a:lnTo>
                <a:lnTo>
                  <a:pt x="5496517" y="2970409"/>
                </a:lnTo>
                <a:lnTo>
                  <a:pt x="0" y="297040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true" flipV="false" rot="0">
            <a:off x="15260703" y="7641371"/>
            <a:ext cx="5496517" cy="2970409"/>
          </a:xfrm>
          <a:custGeom>
            <a:avLst/>
            <a:gdLst/>
            <a:ahLst/>
            <a:cxnLst/>
            <a:rect r="r" b="b" t="t" l="l"/>
            <a:pathLst>
              <a:path h="2970409" w="5496517">
                <a:moveTo>
                  <a:pt x="5496517" y="0"/>
                </a:moveTo>
                <a:lnTo>
                  <a:pt x="0" y="0"/>
                </a:lnTo>
                <a:lnTo>
                  <a:pt x="0" y="2970409"/>
                </a:lnTo>
                <a:lnTo>
                  <a:pt x="5496517" y="2970409"/>
                </a:lnTo>
                <a:lnTo>
                  <a:pt x="5496517"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21" id="21"/>
          <p:cNvSpPr txBox="true"/>
          <p:nvPr/>
        </p:nvSpPr>
        <p:spPr>
          <a:xfrm rot="0">
            <a:off x="1205720" y="3443749"/>
            <a:ext cx="15876560" cy="5200016"/>
          </a:xfrm>
          <a:prstGeom prst="rect">
            <a:avLst/>
          </a:prstGeom>
        </p:spPr>
        <p:txBody>
          <a:bodyPr anchor="t" rtlCol="false" tIns="0" lIns="0" bIns="0" rIns="0">
            <a:spAutoFit/>
          </a:bodyPr>
          <a:lstStyle/>
          <a:p>
            <a:pPr algn="ctr">
              <a:lnSpc>
                <a:spcPts val="6019"/>
              </a:lnSpc>
              <a:spcBef>
                <a:spcPct val="0"/>
              </a:spcBef>
            </a:pPr>
            <a:r>
              <a:rPr lang="en-US" sz="4299">
                <a:solidFill>
                  <a:srgbClr val="65503D"/>
                </a:solidFill>
                <a:latin typeface="Muli"/>
                <a:ea typeface="Muli"/>
                <a:cs typeface="Muli"/>
                <a:sym typeface="Muli"/>
              </a:rPr>
              <a:t>Essential EC2 security practices include using </a:t>
            </a:r>
          </a:p>
          <a:p>
            <a:pPr algn="l" marL="928357" indent="-464178" lvl="1">
              <a:lnSpc>
                <a:spcPts val="6019"/>
              </a:lnSpc>
              <a:buFont typeface="Arial"/>
              <a:buChar char="•"/>
            </a:pPr>
            <a:r>
              <a:rPr lang="en-US" sz="4299">
                <a:solidFill>
                  <a:srgbClr val="65503D"/>
                </a:solidFill>
                <a:latin typeface="Muli"/>
                <a:ea typeface="Muli"/>
                <a:cs typeface="Muli"/>
                <a:sym typeface="Muli"/>
              </a:rPr>
              <a:t>IAM for access management, </a:t>
            </a:r>
          </a:p>
          <a:p>
            <a:pPr algn="l" marL="928357" indent="-464178" lvl="1">
              <a:lnSpc>
                <a:spcPts val="6019"/>
              </a:lnSpc>
              <a:buFont typeface="Arial"/>
              <a:buChar char="•"/>
            </a:pPr>
            <a:r>
              <a:rPr lang="en-US" sz="4299">
                <a:solidFill>
                  <a:srgbClr val="65503D"/>
                </a:solidFill>
                <a:latin typeface="Muli"/>
                <a:ea typeface="Muli"/>
                <a:cs typeface="Muli"/>
                <a:sym typeface="Muli"/>
              </a:rPr>
              <a:t>restricting access to trusted hosts,</a:t>
            </a:r>
          </a:p>
          <a:p>
            <a:pPr algn="l" marL="928357" indent="-464178" lvl="1">
              <a:lnSpc>
                <a:spcPts val="6019"/>
              </a:lnSpc>
              <a:buFont typeface="Arial"/>
              <a:buChar char="•"/>
            </a:pPr>
            <a:r>
              <a:rPr lang="en-US" sz="4299">
                <a:solidFill>
                  <a:srgbClr val="65503D"/>
                </a:solidFill>
                <a:latin typeface="Muli"/>
                <a:ea typeface="Muli"/>
                <a:cs typeface="Muli"/>
                <a:sym typeface="Muli"/>
              </a:rPr>
              <a:t>minimizing permissions, </a:t>
            </a:r>
          </a:p>
          <a:p>
            <a:pPr algn="l" marL="928357" indent="-464178" lvl="1">
              <a:lnSpc>
                <a:spcPts val="6019"/>
              </a:lnSpc>
              <a:buFont typeface="Arial"/>
              <a:buChar char="•"/>
            </a:pPr>
            <a:r>
              <a:rPr lang="en-US" sz="4299">
                <a:solidFill>
                  <a:srgbClr val="65503D"/>
                </a:solidFill>
                <a:latin typeface="Muli"/>
                <a:ea typeface="Muli"/>
                <a:cs typeface="Muli"/>
                <a:sym typeface="Muli"/>
              </a:rPr>
              <a:t>disabling password-based logins, </a:t>
            </a:r>
          </a:p>
          <a:p>
            <a:pPr algn="l" marL="863588" indent="-431794" lvl="1">
              <a:lnSpc>
                <a:spcPts val="5599"/>
              </a:lnSpc>
              <a:buFont typeface="Arial"/>
              <a:buChar char="•"/>
            </a:pPr>
            <a:r>
              <a:rPr lang="en-US" sz="3999">
                <a:solidFill>
                  <a:srgbClr val="65503D"/>
                </a:solidFill>
                <a:latin typeface="Muli"/>
                <a:ea typeface="Muli"/>
                <a:cs typeface="Muli"/>
                <a:sym typeface="Muli"/>
              </a:rPr>
              <a:t>and implementing multi-factor authentication for enhanced security.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644F3D"/>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05720" y="1170762"/>
            <a:ext cx="15876560" cy="7945476"/>
            <a:chOff x="0" y="0"/>
            <a:chExt cx="4181481" cy="2092636"/>
          </a:xfrm>
        </p:grpSpPr>
        <p:sp>
          <p:nvSpPr>
            <p:cNvPr name="Freeform 7" id="7"/>
            <p:cNvSpPr/>
            <p:nvPr/>
          </p:nvSpPr>
          <p:spPr>
            <a:xfrm flipH="false" flipV="false" rot="0">
              <a:off x="0" y="0"/>
              <a:ext cx="4181481" cy="2092636"/>
            </a:xfrm>
            <a:custGeom>
              <a:avLst/>
              <a:gdLst/>
              <a:ahLst/>
              <a:cxnLst/>
              <a:rect r="r" b="b" t="t" l="l"/>
              <a:pathLst>
                <a:path h="2092636" w="4181481">
                  <a:moveTo>
                    <a:pt x="0" y="0"/>
                  </a:moveTo>
                  <a:lnTo>
                    <a:pt x="4181481" y="0"/>
                  </a:lnTo>
                  <a:lnTo>
                    <a:pt x="4181481" y="2092636"/>
                  </a:lnTo>
                  <a:lnTo>
                    <a:pt x="0" y="2092636"/>
                  </a:lnTo>
                  <a:close/>
                </a:path>
              </a:pathLst>
            </a:custGeom>
            <a:solidFill>
              <a:srgbClr val="FFFFFF"/>
            </a:solidFill>
            <a:ln w="38100" cap="sq">
              <a:solidFill>
                <a:srgbClr val="C1CE9A"/>
              </a:solidFill>
              <a:prstDash val="lgDash"/>
              <a:miter/>
            </a:ln>
          </p:spPr>
        </p:sp>
        <p:sp>
          <p:nvSpPr>
            <p:cNvPr name="TextBox 8" id="8"/>
            <p:cNvSpPr txBox="true"/>
            <p:nvPr/>
          </p:nvSpPr>
          <p:spPr>
            <a:xfrm>
              <a:off x="0" y="-38100"/>
              <a:ext cx="4181481" cy="213073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false" rot="0">
            <a:off x="292166" y="1438055"/>
            <a:ext cx="1312631" cy="837697"/>
          </a:xfrm>
          <a:custGeom>
            <a:avLst/>
            <a:gdLst/>
            <a:ahLst/>
            <a:cxnLst/>
            <a:rect r="r" b="b" t="t" l="l"/>
            <a:pathLst>
              <a:path h="837697" w="1312631">
                <a:moveTo>
                  <a:pt x="1312631" y="0"/>
                </a:moveTo>
                <a:lnTo>
                  <a:pt x="0" y="0"/>
                </a:lnTo>
                <a:lnTo>
                  <a:pt x="0" y="837697"/>
                </a:lnTo>
                <a:lnTo>
                  <a:pt x="1312631" y="837697"/>
                </a:lnTo>
                <a:lnTo>
                  <a:pt x="1312631"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0" id="10"/>
          <p:cNvSpPr/>
          <p:nvPr/>
        </p:nvSpPr>
        <p:spPr>
          <a:xfrm flipH="false" flipV="false" rot="0">
            <a:off x="1604797" y="308481"/>
            <a:ext cx="1581824" cy="1009491"/>
          </a:xfrm>
          <a:custGeom>
            <a:avLst/>
            <a:gdLst/>
            <a:ahLst/>
            <a:cxnLst/>
            <a:rect r="r" b="b" t="t" l="l"/>
            <a:pathLst>
              <a:path h="1009491" w="1581824">
                <a:moveTo>
                  <a:pt x="0" y="0"/>
                </a:moveTo>
                <a:lnTo>
                  <a:pt x="1581824" y="0"/>
                </a:lnTo>
                <a:lnTo>
                  <a:pt x="1581824" y="1009491"/>
                </a:lnTo>
                <a:lnTo>
                  <a:pt x="0" y="10094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1" id="11"/>
          <p:cNvSpPr/>
          <p:nvPr/>
        </p:nvSpPr>
        <p:spPr>
          <a:xfrm flipH="false" flipV="false" rot="0">
            <a:off x="16143268" y="7552514"/>
            <a:ext cx="1793964" cy="1144875"/>
          </a:xfrm>
          <a:custGeom>
            <a:avLst/>
            <a:gdLst/>
            <a:ahLst/>
            <a:cxnLst/>
            <a:rect r="r" b="b" t="t" l="l"/>
            <a:pathLst>
              <a:path h="1144875" w="1793964">
                <a:moveTo>
                  <a:pt x="0" y="0"/>
                </a:moveTo>
                <a:lnTo>
                  <a:pt x="1793964" y="0"/>
                </a:lnTo>
                <a:lnTo>
                  <a:pt x="1793964" y="1144875"/>
                </a:lnTo>
                <a:lnTo>
                  <a:pt x="0" y="11448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2" id="12"/>
          <p:cNvSpPr/>
          <p:nvPr/>
        </p:nvSpPr>
        <p:spPr>
          <a:xfrm flipH="true" flipV="false" rot="0">
            <a:off x="16143268" y="-3984217"/>
            <a:ext cx="10801253" cy="5756168"/>
          </a:xfrm>
          <a:custGeom>
            <a:avLst/>
            <a:gdLst/>
            <a:ahLst/>
            <a:cxnLst/>
            <a:rect r="r" b="b" t="t" l="l"/>
            <a:pathLst>
              <a:path h="5756168" w="10801253">
                <a:moveTo>
                  <a:pt x="10801252" y="0"/>
                </a:moveTo>
                <a:lnTo>
                  <a:pt x="0" y="0"/>
                </a:lnTo>
                <a:lnTo>
                  <a:pt x="0" y="5756167"/>
                </a:lnTo>
                <a:lnTo>
                  <a:pt x="10801252" y="5756167"/>
                </a:lnTo>
                <a:lnTo>
                  <a:pt x="10801252"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8656520" y="-3984217"/>
            <a:ext cx="10801253" cy="5756168"/>
          </a:xfrm>
          <a:custGeom>
            <a:avLst/>
            <a:gdLst/>
            <a:ahLst/>
            <a:cxnLst/>
            <a:rect r="r" b="b" t="t" l="l"/>
            <a:pathLst>
              <a:path h="5756168" w="10801253">
                <a:moveTo>
                  <a:pt x="0" y="0"/>
                </a:moveTo>
                <a:lnTo>
                  <a:pt x="10801252" y="0"/>
                </a:lnTo>
                <a:lnTo>
                  <a:pt x="10801252" y="5756167"/>
                </a:lnTo>
                <a:lnTo>
                  <a:pt x="0" y="57561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4180238" y="1660448"/>
            <a:ext cx="9927524" cy="1133475"/>
          </a:xfrm>
          <a:prstGeom prst="rect">
            <a:avLst/>
          </a:prstGeom>
        </p:spPr>
        <p:txBody>
          <a:bodyPr anchor="t" rtlCol="false" tIns="0" lIns="0" bIns="0" rIns="0">
            <a:spAutoFit/>
          </a:bodyPr>
          <a:lstStyle/>
          <a:p>
            <a:pPr algn="ctr">
              <a:lnSpc>
                <a:spcPts val="8850"/>
              </a:lnSpc>
            </a:pPr>
            <a:r>
              <a:rPr lang="en-US" sz="7500" spc="420">
                <a:solidFill>
                  <a:srgbClr val="65503D"/>
                </a:solidFill>
                <a:latin typeface="Wedges"/>
                <a:ea typeface="Wedges"/>
                <a:cs typeface="Wedges"/>
                <a:sym typeface="Wedges"/>
              </a:rPr>
              <a:t>QUESTION-3</a:t>
            </a:r>
          </a:p>
        </p:txBody>
      </p:sp>
      <p:sp>
        <p:nvSpPr>
          <p:cNvPr name="TextBox 15" id="15"/>
          <p:cNvSpPr txBox="true"/>
          <p:nvPr/>
        </p:nvSpPr>
        <p:spPr>
          <a:xfrm rot="0">
            <a:off x="2395709" y="3816669"/>
            <a:ext cx="14031667" cy="1727201"/>
          </a:xfrm>
          <a:prstGeom prst="rect">
            <a:avLst/>
          </a:prstGeom>
        </p:spPr>
        <p:txBody>
          <a:bodyPr anchor="t" rtlCol="false" tIns="0" lIns="0" bIns="0" rIns="0">
            <a:spAutoFit/>
          </a:bodyPr>
          <a:lstStyle/>
          <a:p>
            <a:pPr algn="l">
              <a:lnSpc>
                <a:spcPts val="5879"/>
              </a:lnSpc>
            </a:pPr>
            <a:r>
              <a:rPr lang="en-US" sz="4199">
                <a:solidFill>
                  <a:srgbClr val="65503D"/>
                </a:solidFill>
                <a:latin typeface="Jella"/>
                <a:ea typeface="Jella"/>
                <a:cs typeface="Jella"/>
                <a:sym typeface="Jella"/>
              </a:rPr>
              <a:t> </a:t>
            </a:r>
            <a:r>
              <a:rPr lang="en-US" sz="4199" b="true">
                <a:solidFill>
                  <a:srgbClr val="65503D"/>
                </a:solidFill>
                <a:latin typeface="Jella Bold"/>
                <a:ea typeface="Jella Bold"/>
                <a:cs typeface="Jella Bold"/>
                <a:sym typeface="Jella Bold"/>
              </a:rPr>
              <a:t>What are the core AWS services for DevOps?</a:t>
            </a:r>
          </a:p>
          <a:p>
            <a:pPr algn="l">
              <a:lnSpc>
                <a:spcPts val="5319"/>
              </a:lnSpc>
            </a:pPr>
          </a:p>
        </p:txBody>
      </p:sp>
      <p:sp>
        <p:nvSpPr>
          <p:cNvPr name="Freeform 16" id="16"/>
          <p:cNvSpPr/>
          <p:nvPr/>
        </p:nvSpPr>
        <p:spPr>
          <a:xfrm flipH="false" flipV="false" rot="0">
            <a:off x="-2469220" y="7641371"/>
            <a:ext cx="5496517" cy="2970409"/>
          </a:xfrm>
          <a:custGeom>
            <a:avLst/>
            <a:gdLst/>
            <a:ahLst/>
            <a:cxnLst/>
            <a:rect r="r" b="b" t="t" l="l"/>
            <a:pathLst>
              <a:path h="2970409" w="5496517">
                <a:moveTo>
                  <a:pt x="0" y="0"/>
                </a:moveTo>
                <a:lnTo>
                  <a:pt x="5496517" y="0"/>
                </a:lnTo>
                <a:lnTo>
                  <a:pt x="5496517" y="2970409"/>
                </a:lnTo>
                <a:lnTo>
                  <a:pt x="0" y="29704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true" flipV="false" rot="0">
            <a:off x="15260703" y="7641371"/>
            <a:ext cx="5496517" cy="2970409"/>
          </a:xfrm>
          <a:custGeom>
            <a:avLst/>
            <a:gdLst/>
            <a:ahLst/>
            <a:cxnLst/>
            <a:rect r="r" b="b" t="t" l="l"/>
            <a:pathLst>
              <a:path h="2970409" w="5496517">
                <a:moveTo>
                  <a:pt x="5496517" y="0"/>
                </a:moveTo>
                <a:lnTo>
                  <a:pt x="0" y="0"/>
                </a:lnTo>
                <a:lnTo>
                  <a:pt x="0" y="2970409"/>
                </a:lnTo>
                <a:lnTo>
                  <a:pt x="5496517" y="2970409"/>
                </a:lnTo>
                <a:lnTo>
                  <a:pt x="5496517"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644F3D"/>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05720" y="1170762"/>
            <a:ext cx="15876560" cy="7945476"/>
            <a:chOff x="0" y="0"/>
            <a:chExt cx="4181481" cy="2092636"/>
          </a:xfrm>
        </p:grpSpPr>
        <p:sp>
          <p:nvSpPr>
            <p:cNvPr name="Freeform 7" id="7"/>
            <p:cNvSpPr/>
            <p:nvPr/>
          </p:nvSpPr>
          <p:spPr>
            <a:xfrm flipH="false" flipV="false" rot="0">
              <a:off x="0" y="0"/>
              <a:ext cx="4181481" cy="2092636"/>
            </a:xfrm>
            <a:custGeom>
              <a:avLst/>
              <a:gdLst/>
              <a:ahLst/>
              <a:cxnLst/>
              <a:rect r="r" b="b" t="t" l="l"/>
              <a:pathLst>
                <a:path h="2092636" w="4181481">
                  <a:moveTo>
                    <a:pt x="0" y="0"/>
                  </a:moveTo>
                  <a:lnTo>
                    <a:pt x="4181481" y="0"/>
                  </a:lnTo>
                  <a:lnTo>
                    <a:pt x="4181481" y="2092636"/>
                  </a:lnTo>
                  <a:lnTo>
                    <a:pt x="0" y="2092636"/>
                  </a:lnTo>
                  <a:close/>
                </a:path>
              </a:pathLst>
            </a:custGeom>
            <a:solidFill>
              <a:srgbClr val="FFFFFF"/>
            </a:solidFill>
            <a:ln w="38100" cap="sq">
              <a:solidFill>
                <a:srgbClr val="C1CE9A"/>
              </a:solidFill>
              <a:prstDash val="lgDash"/>
              <a:miter/>
            </a:ln>
          </p:spPr>
        </p:sp>
        <p:sp>
          <p:nvSpPr>
            <p:cNvPr name="TextBox 8" id="8"/>
            <p:cNvSpPr txBox="true"/>
            <p:nvPr/>
          </p:nvSpPr>
          <p:spPr>
            <a:xfrm>
              <a:off x="0" y="-38100"/>
              <a:ext cx="4181481" cy="213073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false" rot="0">
            <a:off x="16143268" y="-3984217"/>
            <a:ext cx="10801253" cy="5756168"/>
          </a:xfrm>
          <a:custGeom>
            <a:avLst/>
            <a:gdLst/>
            <a:ahLst/>
            <a:cxnLst/>
            <a:rect r="r" b="b" t="t" l="l"/>
            <a:pathLst>
              <a:path h="5756168" w="10801253">
                <a:moveTo>
                  <a:pt x="10801252" y="0"/>
                </a:moveTo>
                <a:lnTo>
                  <a:pt x="0" y="0"/>
                </a:lnTo>
                <a:lnTo>
                  <a:pt x="0" y="5756167"/>
                </a:lnTo>
                <a:lnTo>
                  <a:pt x="10801252" y="5756167"/>
                </a:lnTo>
                <a:lnTo>
                  <a:pt x="1080125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false" rot="0">
            <a:off x="292166" y="1438055"/>
            <a:ext cx="1312631" cy="837697"/>
          </a:xfrm>
          <a:custGeom>
            <a:avLst/>
            <a:gdLst/>
            <a:ahLst/>
            <a:cxnLst/>
            <a:rect r="r" b="b" t="t" l="l"/>
            <a:pathLst>
              <a:path h="837697" w="1312631">
                <a:moveTo>
                  <a:pt x="1312631" y="0"/>
                </a:moveTo>
                <a:lnTo>
                  <a:pt x="0" y="0"/>
                </a:lnTo>
                <a:lnTo>
                  <a:pt x="0" y="837697"/>
                </a:lnTo>
                <a:lnTo>
                  <a:pt x="1312631" y="837697"/>
                </a:lnTo>
                <a:lnTo>
                  <a:pt x="1312631"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1" id="11"/>
          <p:cNvSpPr/>
          <p:nvPr/>
        </p:nvSpPr>
        <p:spPr>
          <a:xfrm flipH="false" flipV="false" rot="0">
            <a:off x="1604797" y="308481"/>
            <a:ext cx="1581824" cy="1009491"/>
          </a:xfrm>
          <a:custGeom>
            <a:avLst/>
            <a:gdLst/>
            <a:ahLst/>
            <a:cxnLst/>
            <a:rect r="r" b="b" t="t" l="l"/>
            <a:pathLst>
              <a:path h="1009491" w="1581824">
                <a:moveTo>
                  <a:pt x="0" y="0"/>
                </a:moveTo>
                <a:lnTo>
                  <a:pt x="1581824" y="0"/>
                </a:lnTo>
                <a:lnTo>
                  <a:pt x="1581824" y="1009491"/>
                </a:lnTo>
                <a:lnTo>
                  <a:pt x="0" y="10094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2" id="12"/>
          <p:cNvSpPr/>
          <p:nvPr/>
        </p:nvSpPr>
        <p:spPr>
          <a:xfrm flipH="false" flipV="false" rot="0">
            <a:off x="16143268" y="7552514"/>
            <a:ext cx="1793964" cy="1144875"/>
          </a:xfrm>
          <a:custGeom>
            <a:avLst/>
            <a:gdLst/>
            <a:ahLst/>
            <a:cxnLst/>
            <a:rect r="r" b="b" t="t" l="l"/>
            <a:pathLst>
              <a:path h="1144875" w="1793964">
                <a:moveTo>
                  <a:pt x="0" y="0"/>
                </a:moveTo>
                <a:lnTo>
                  <a:pt x="1793964" y="0"/>
                </a:lnTo>
                <a:lnTo>
                  <a:pt x="1793964" y="1144875"/>
                </a:lnTo>
                <a:lnTo>
                  <a:pt x="0" y="11448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3" id="13"/>
          <p:cNvSpPr/>
          <p:nvPr/>
        </p:nvSpPr>
        <p:spPr>
          <a:xfrm flipH="false" flipV="false" rot="0">
            <a:off x="-8656520" y="-3984217"/>
            <a:ext cx="10801253" cy="5756168"/>
          </a:xfrm>
          <a:custGeom>
            <a:avLst/>
            <a:gdLst/>
            <a:ahLst/>
            <a:cxnLst/>
            <a:rect r="r" b="b" t="t" l="l"/>
            <a:pathLst>
              <a:path h="5756168" w="10801253">
                <a:moveTo>
                  <a:pt x="0" y="0"/>
                </a:moveTo>
                <a:lnTo>
                  <a:pt x="10801252" y="0"/>
                </a:lnTo>
                <a:lnTo>
                  <a:pt x="10801252" y="5756167"/>
                </a:lnTo>
                <a:lnTo>
                  <a:pt x="0" y="5756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469220" y="7641371"/>
            <a:ext cx="5496517" cy="2970409"/>
          </a:xfrm>
          <a:custGeom>
            <a:avLst/>
            <a:gdLst/>
            <a:ahLst/>
            <a:cxnLst/>
            <a:rect r="r" b="b" t="t" l="l"/>
            <a:pathLst>
              <a:path h="2970409" w="5496517">
                <a:moveTo>
                  <a:pt x="0" y="0"/>
                </a:moveTo>
                <a:lnTo>
                  <a:pt x="5496517" y="0"/>
                </a:lnTo>
                <a:lnTo>
                  <a:pt x="5496517" y="2970409"/>
                </a:lnTo>
                <a:lnTo>
                  <a:pt x="0" y="29704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true" flipV="false" rot="0">
            <a:off x="15260703" y="7641371"/>
            <a:ext cx="5496517" cy="2970409"/>
          </a:xfrm>
          <a:custGeom>
            <a:avLst/>
            <a:gdLst/>
            <a:ahLst/>
            <a:cxnLst/>
            <a:rect r="r" b="b" t="t" l="l"/>
            <a:pathLst>
              <a:path h="2970409" w="5496517">
                <a:moveTo>
                  <a:pt x="5496517" y="0"/>
                </a:moveTo>
                <a:lnTo>
                  <a:pt x="0" y="0"/>
                </a:lnTo>
                <a:lnTo>
                  <a:pt x="0" y="2970409"/>
                </a:lnTo>
                <a:lnTo>
                  <a:pt x="5496517" y="2970409"/>
                </a:lnTo>
                <a:lnTo>
                  <a:pt x="5496517"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16" id="16"/>
          <p:cNvSpPr txBox="true"/>
          <p:nvPr/>
        </p:nvSpPr>
        <p:spPr>
          <a:xfrm rot="0">
            <a:off x="4180238" y="1660448"/>
            <a:ext cx="9927524" cy="1133475"/>
          </a:xfrm>
          <a:prstGeom prst="rect">
            <a:avLst/>
          </a:prstGeom>
        </p:spPr>
        <p:txBody>
          <a:bodyPr anchor="t" rtlCol="false" tIns="0" lIns="0" bIns="0" rIns="0">
            <a:spAutoFit/>
          </a:bodyPr>
          <a:lstStyle/>
          <a:p>
            <a:pPr algn="ctr">
              <a:lnSpc>
                <a:spcPts val="8850"/>
              </a:lnSpc>
            </a:pPr>
            <a:r>
              <a:rPr lang="en-US" sz="7500" spc="420">
                <a:solidFill>
                  <a:srgbClr val="65503D"/>
                </a:solidFill>
                <a:latin typeface="Wedges"/>
                <a:ea typeface="Wedges"/>
                <a:cs typeface="Wedges"/>
                <a:sym typeface="Wedges"/>
              </a:rPr>
              <a:t>ANSWER</a:t>
            </a:r>
          </a:p>
        </p:txBody>
      </p:sp>
      <p:sp>
        <p:nvSpPr>
          <p:cNvPr name="TextBox 17" id="17"/>
          <p:cNvSpPr txBox="true"/>
          <p:nvPr/>
        </p:nvSpPr>
        <p:spPr>
          <a:xfrm rot="0">
            <a:off x="1604797" y="2961421"/>
            <a:ext cx="14971748" cy="5450921"/>
          </a:xfrm>
          <a:prstGeom prst="rect">
            <a:avLst/>
          </a:prstGeom>
        </p:spPr>
        <p:txBody>
          <a:bodyPr anchor="t" rtlCol="false" tIns="0" lIns="0" bIns="0" rIns="0">
            <a:spAutoFit/>
          </a:bodyPr>
          <a:lstStyle/>
          <a:p>
            <a:pPr algn="l">
              <a:lnSpc>
                <a:spcPts val="5105"/>
              </a:lnSpc>
            </a:pPr>
            <a:r>
              <a:rPr lang="en-US" sz="3646" b="true">
                <a:solidFill>
                  <a:srgbClr val="65503D"/>
                </a:solidFill>
                <a:latin typeface="Jella Bold"/>
                <a:ea typeface="Jella Bold"/>
                <a:cs typeface="Jella Bold"/>
                <a:sym typeface="Jella Bold"/>
              </a:rPr>
              <a:t>Compute: </a:t>
            </a:r>
            <a:r>
              <a:rPr lang="en-US" sz="3646">
                <a:solidFill>
                  <a:srgbClr val="65503D"/>
                </a:solidFill>
                <a:latin typeface="Jella"/>
                <a:ea typeface="Jella"/>
                <a:cs typeface="Jella"/>
                <a:sym typeface="Jella"/>
              </a:rPr>
              <a:t>EC2, Lambda, ECS, EKS. </a:t>
            </a:r>
          </a:p>
          <a:p>
            <a:pPr algn="l">
              <a:lnSpc>
                <a:spcPts val="5105"/>
              </a:lnSpc>
            </a:pPr>
            <a:r>
              <a:rPr lang="en-US" sz="3646" b="true">
                <a:solidFill>
                  <a:srgbClr val="65503D"/>
                </a:solidFill>
                <a:latin typeface="Jella Bold"/>
                <a:ea typeface="Jella Bold"/>
                <a:cs typeface="Jella Bold"/>
                <a:sym typeface="Jella Bold"/>
              </a:rPr>
              <a:t>Storage: </a:t>
            </a:r>
            <a:r>
              <a:rPr lang="en-US" sz="3646">
                <a:solidFill>
                  <a:srgbClr val="65503D"/>
                </a:solidFill>
                <a:latin typeface="Jella"/>
                <a:ea typeface="Jella"/>
                <a:cs typeface="Jella"/>
                <a:sym typeface="Jella"/>
              </a:rPr>
              <a:t>S3, EBS, EFS. </a:t>
            </a:r>
          </a:p>
          <a:p>
            <a:pPr algn="l">
              <a:lnSpc>
                <a:spcPts val="5105"/>
              </a:lnSpc>
            </a:pPr>
            <a:r>
              <a:rPr lang="en-US" sz="3646" b="true">
                <a:solidFill>
                  <a:srgbClr val="65503D"/>
                </a:solidFill>
                <a:latin typeface="Jella Bold"/>
                <a:ea typeface="Jella Bold"/>
                <a:cs typeface="Jella Bold"/>
                <a:sym typeface="Jella Bold"/>
              </a:rPr>
              <a:t>Networking: </a:t>
            </a:r>
            <a:r>
              <a:rPr lang="en-US" sz="3646">
                <a:solidFill>
                  <a:srgbClr val="65503D"/>
                </a:solidFill>
                <a:latin typeface="Jella"/>
                <a:ea typeface="Jella"/>
                <a:cs typeface="Jella"/>
                <a:sym typeface="Jella"/>
              </a:rPr>
              <a:t>VPC, Route 53, ALB/NLB. </a:t>
            </a:r>
          </a:p>
          <a:p>
            <a:pPr algn="l">
              <a:lnSpc>
                <a:spcPts val="5105"/>
              </a:lnSpc>
            </a:pPr>
            <a:r>
              <a:rPr lang="en-US" sz="3646" b="true">
                <a:solidFill>
                  <a:srgbClr val="65503D"/>
                </a:solidFill>
                <a:latin typeface="Jella Bold"/>
                <a:ea typeface="Jella Bold"/>
                <a:cs typeface="Jella Bold"/>
                <a:sym typeface="Jella Bold"/>
              </a:rPr>
              <a:t>CI/CD:  </a:t>
            </a:r>
            <a:r>
              <a:rPr lang="en-US" sz="3646">
                <a:solidFill>
                  <a:srgbClr val="65503D"/>
                </a:solidFill>
                <a:latin typeface="Jella"/>
                <a:ea typeface="Jella"/>
                <a:cs typeface="Jella"/>
                <a:sym typeface="Jella"/>
              </a:rPr>
              <a:t>CodeCommit, CodeBuild, CodeDeploy, CodePipeline. </a:t>
            </a:r>
          </a:p>
          <a:p>
            <a:pPr algn="l">
              <a:lnSpc>
                <a:spcPts val="5105"/>
              </a:lnSpc>
            </a:pPr>
            <a:r>
              <a:rPr lang="en-US" sz="3646" b="true">
                <a:solidFill>
                  <a:srgbClr val="65503D"/>
                </a:solidFill>
                <a:latin typeface="Jella Bold"/>
                <a:ea typeface="Jella Bold"/>
                <a:cs typeface="Jella Bold"/>
                <a:sym typeface="Jella Bold"/>
              </a:rPr>
              <a:t>Monitoring: </a:t>
            </a:r>
            <a:r>
              <a:rPr lang="en-US" sz="3646">
                <a:solidFill>
                  <a:srgbClr val="65503D"/>
                </a:solidFill>
                <a:latin typeface="Jella"/>
                <a:ea typeface="Jella"/>
                <a:cs typeface="Jella"/>
                <a:sym typeface="Jella"/>
              </a:rPr>
              <a:t>CloudWatch, X-Ray,CloudTrail.</a:t>
            </a:r>
          </a:p>
          <a:p>
            <a:pPr algn="l">
              <a:lnSpc>
                <a:spcPts val="5105"/>
              </a:lnSpc>
            </a:pPr>
            <a:r>
              <a:rPr lang="en-US" sz="3646" b="true">
                <a:solidFill>
                  <a:srgbClr val="65503D"/>
                </a:solidFill>
                <a:latin typeface="Jella Bold"/>
                <a:ea typeface="Jella Bold"/>
                <a:cs typeface="Jella Bold"/>
                <a:sym typeface="Jella Bold"/>
              </a:rPr>
              <a:t>Security &amp; Access Management: </a:t>
            </a:r>
            <a:r>
              <a:rPr lang="en-US" sz="3646">
                <a:solidFill>
                  <a:srgbClr val="65503D"/>
                </a:solidFill>
                <a:latin typeface="Jella"/>
                <a:ea typeface="Jella"/>
                <a:cs typeface="Jella"/>
                <a:sym typeface="Jella"/>
              </a:rPr>
              <a:t>IAM,AWS Secrets Manager </a:t>
            </a:r>
          </a:p>
          <a:p>
            <a:pPr algn="l">
              <a:lnSpc>
                <a:spcPts val="5105"/>
              </a:lnSpc>
            </a:pPr>
          </a:p>
          <a:p>
            <a:pPr algn="l">
              <a:lnSpc>
                <a:spcPts val="5105"/>
              </a:lnSpc>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FF9EF"/>
        </a:solidFill>
      </p:bgPr>
    </p:bg>
    <p:spTree>
      <p:nvGrpSpPr>
        <p:cNvPr id="1" name=""/>
        <p:cNvGrpSpPr/>
        <p:nvPr/>
      </p:nvGrpSpPr>
      <p:grpSpPr>
        <a:xfrm>
          <a:off x="0" y="0"/>
          <a:ext cx="0" cy="0"/>
          <a:chOff x="0" y="0"/>
          <a:chExt cx="0" cy="0"/>
        </a:xfrm>
      </p:grpSpPr>
      <p:sp>
        <p:nvSpPr>
          <p:cNvPr name="TextBox 2" id="2"/>
          <p:cNvSpPr txBox="true"/>
          <p:nvPr/>
        </p:nvSpPr>
        <p:spPr>
          <a:xfrm rot="0">
            <a:off x="5598635" y="876300"/>
            <a:ext cx="5928360" cy="1295400"/>
          </a:xfrm>
          <a:prstGeom prst="rect">
            <a:avLst/>
          </a:prstGeom>
        </p:spPr>
        <p:txBody>
          <a:bodyPr anchor="t" rtlCol="false" tIns="0" lIns="0" bIns="0" rIns="0">
            <a:spAutoFit/>
          </a:bodyPr>
          <a:lstStyle/>
          <a:p>
            <a:pPr algn="ctr">
              <a:lnSpc>
                <a:spcPts val="10500"/>
              </a:lnSpc>
              <a:spcBef>
                <a:spcPct val="0"/>
              </a:spcBef>
            </a:pPr>
            <a:r>
              <a:rPr lang="en-US" sz="7500">
                <a:solidFill>
                  <a:srgbClr val="76ADFF"/>
                </a:solidFill>
                <a:latin typeface="Wedges"/>
                <a:ea typeface="Wedges"/>
                <a:cs typeface="Wedges"/>
                <a:sym typeface="Wedges"/>
              </a:rPr>
              <a:t> QUESTION 4</a:t>
            </a:r>
          </a:p>
        </p:txBody>
      </p:sp>
      <p:sp>
        <p:nvSpPr>
          <p:cNvPr name="TextBox 3" id="3"/>
          <p:cNvSpPr txBox="true"/>
          <p:nvPr/>
        </p:nvSpPr>
        <p:spPr>
          <a:xfrm rot="0">
            <a:off x="804060" y="3511337"/>
            <a:ext cx="16455240" cy="1375835"/>
          </a:xfrm>
          <a:prstGeom prst="rect">
            <a:avLst/>
          </a:prstGeom>
        </p:spPr>
        <p:txBody>
          <a:bodyPr anchor="t" rtlCol="false" tIns="0" lIns="0" bIns="0" rIns="0">
            <a:spAutoFit/>
          </a:bodyPr>
          <a:lstStyle/>
          <a:p>
            <a:pPr algn="ctr">
              <a:lnSpc>
                <a:spcPts val="5541"/>
              </a:lnSpc>
              <a:spcBef>
                <a:spcPct val="0"/>
              </a:spcBef>
            </a:pPr>
            <a:r>
              <a:rPr lang="en-US" sz="3958">
                <a:solidFill>
                  <a:srgbClr val="000000"/>
                </a:solidFill>
                <a:latin typeface="Muli"/>
                <a:ea typeface="Muli"/>
                <a:cs typeface="Muli"/>
                <a:sym typeface="Muli"/>
              </a:rPr>
              <a:t>What are the strategies to create a highly available and fault-tolerant AWS architecture for critical web applications?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644F3D"/>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05720" y="1170762"/>
            <a:ext cx="15876560" cy="7945476"/>
            <a:chOff x="0" y="0"/>
            <a:chExt cx="4181481" cy="2092636"/>
          </a:xfrm>
        </p:grpSpPr>
        <p:sp>
          <p:nvSpPr>
            <p:cNvPr name="Freeform 7" id="7" descr="ANSWER"/>
            <p:cNvSpPr/>
            <p:nvPr/>
          </p:nvSpPr>
          <p:spPr>
            <a:xfrm flipH="false" flipV="false" rot="0">
              <a:off x="0" y="0"/>
              <a:ext cx="4181481" cy="2092636"/>
            </a:xfrm>
            <a:custGeom>
              <a:avLst/>
              <a:gdLst/>
              <a:ahLst/>
              <a:cxnLst/>
              <a:rect r="r" b="b" t="t" l="l"/>
              <a:pathLst>
                <a:path h="2092636" w="4181481">
                  <a:moveTo>
                    <a:pt x="0" y="0"/>
                  </a:moveTo>
                  <a:lnTo>
                    <a:pt x="4181481" y="0"/>
                  </a:lnTo>
                  <a:lnTo>
                    <a:pt x="4181481" y="2092636"/>
                  </a:lnTo>
                  <a:lnTo>
                    <a:pt x="0" y="2092636"/>
                  </a:lnTo>
                  <a:close/>
                </a:path>
              </a:pathLst>
            </a:custGeom>
            <a:solidFill>
              <a:srgbClr val="FFFFFF"/>
            </a:solidFill>
            <a:ln w="38100" cap="sq">
              <a:solidFill>
                <a:srgbClr val="C1CE9A"/>
              </a:solidFill>
              <a:prstDash val="lgDash"/>
              <a:miter/>
            </a:ln>
          </p:spPr>
        </p:sp>
        <p:sp>
          <p:nvSpPr>
            <p:cNvPr name="TextBox 8" id="8"/>
            <p:cNvSpPr txBox="true"/>
            <p:nvPr/>
          </p:nvSpPr>
          <p:spPr>
            <a:xfrm>
              <a:off x="0" y="-38100"/>
              <a:ext cx="4181481" cy="213073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false" rot="0">
            <a:off x="16143268" y="-3984217"/>
            <a:ext cx="10801253" cy="5756168"/>
          </a:xfrm>
          <a:custGeom>
            <a:avLst/>
            <a:gdLst/>
            <a:ahLst/>
            <a:cxnLst/>
            <a:rect r="r" b="b" t="t" l="l"/>
            <a:pathLst>
              <a:path h="5756168" w="10801253">
                <a:moveTo>
                  <a:pt x="10801252" y="0"/>
                </a:moveTo>
                <a:lnTo>
                  <a:pt x="0" y="0"/>
                </a:lnTo>
                <a:lnTo>
                  <a:pt x="0" y="5756167"/>
                </a:lnTo>
                <a:lnTo>
                  <a:pt x="10801252" y="5756167"/>
                </a:lnTo>
                <a:lnTo>
                  <a:pt x="1080125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false" rot="0">
            <a:off x="292166" y="1438055"/>
            <a:ext cx="1312631" cy="837697"/>
          </a:xfrm>
          <a:custGeom>
            <a:avLst/>
            <a:gdLst/>
            <a:ahLst/>
            <a:cxnLst/>
            <a:rect r="r" b="b" t="t" l="l"/>
            <a:pathLst>
              <a:path h="837697" w="1312631">
                <a:moveTo>
                  <a:pt x="1312631" y="0"/>
                </a:moveTo>
                <a:lnTo>
                  <a:pt x="0" y="0"/>
                </a:lnTo>
                <a:lnTo>
                  <a:pt x="0" y="837697"/>
                </a:lnTo>
                <a:lnTo>
                  <a:pt x="1312631" y="837697"/>
                </a:lnTo>
                <a:lnTo>
                  <a:pt x="1312631"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1" id="11"/>
          <p:cNvSpPr/>
          <p:nvPr/>
        </p:nvSpPr>
        <p:spPr>
          <a:xfrm flipH="false" flipV="false" rot="0">
            <a:off x="1604797" y="308481"/>
            <a:ext cx="1581824" cy="1009491"/>
          </a:xfrm>
          <a:custGeom>
            <a:avLst/>
            <a:gdLst/>
            <a:ahLst/>
            <a:cxnLst/>
            <a:rect r="r" b="b" t="t" l="l"/>
            <a:pathLst>
              <a:path h="1009491" w="1581824">
                <a:moveTo>
                  <a:pt x="0" y="0"/>
                </a:moveTo>
                <a:lnTo>
                  <a:pt x="1581824" y="0"/>
                </a:lnTo>
                <a:lnTo>
                  <a:pt x="1581824" y="1009491"/>
                </a:lnTo>
                <a:lnTo>
                  <a:pt x="0" y="10094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2" id="12"/>
          <p:cNvSpPr/>
          <p:nvPr/>
        </p:nvSpPr>
        <p:spPr>
          <a:xfrm flipH="false" flipV="false" rot="0">
            <a:off x="16143268" y="7552514"/>
            <a:ext cx="1793964" cy="1144875"/>
          </a:xfrm>
          <a:custGeom>
            <a:avLst/>
            <a:gdLst/>
            <a:ahLst/>
            <a:cxnLst/>
            <a:rect r="r" b="b" t="t" l="l"/>
            <a:pathLst>
              <a:path h="1144875" w="1793964">
                <a:moveTo>
                  <a:pt x="0" y="0"/>
                </a:moveTo>
                <a:lnTo>
                  <a:pt x="1793964" y="0"/>
                </a:lnTo>
                <a:lnTo>
                  <a:pt x="1793964" y="1144875"/>
                </a:lnTo>
                <a:lnTo>
                  <a:pt x="0" y="11448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3" id="13"/>
          <p:cNvSpPr/>
          <p:nvPr/>
        </p:nvSpPr>
        <p:spPr>
          <a:xfrm flipH="false" flipV="false" rot="0">
            <a:off x="-8656520" y="-3984217"/>
            <a:ext cx="10801253" cy="5756168"/>
          </a:xfrm>
          <a:custGeom>
            <a:avLst/>
            <a:gdLst/>
            <a:ahLst/>
            <a:cxnLst/>
            <a:rect r="r" b="b" t="t" l="l"/>
            <a:pathLst>
              <a:path h="5756168" w="10801253">
                <a:moveTo>
                  <a:pt x="0" y="0"/>
                </a:moveTo>
                <a:lnTo>
                  <a:pt x="10801252" y="0"/>
                </a:lnTo>
                <a:lnTo>
                  <a:pt x="10801252" y="5756167"/>
                </a:lnTo>
                <a:lnTo>
                  <a:pt x="0" y="5756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469220" y="7641371"/>
            <a:ext cx="5496517" cy="2970409"/>
          </a:xfrm>
          <a:custGeom>
            <a:avLst/>
            <a:gdLst/>
            <a:ahLst/>
            <a:cxnLst/>
            <a:rect r="r" b="b" t="t" l="l"/>
            <a:pathLst>
              <a:path h="2970409" w="5496517">
                <a:moveTo>
                  <a:pt x="0" y="0"/>
                </a:moveTo>
                <a:lnTo>
                  <a:pt x="5496517" y="0"/>
                </a:lnTo>
                <a:lnTo>
                  <a:pt x="5496517" y="2970409"/>
                </a:lnTo>
                <a:lnTo>
                  <a:pt x="0" y="29704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true" flipV="false" rot="0">
            <a:off x="15260703" y="7641371"/>
            <a:ext cx="5496517" cy="2970409"/>
          </a:xfrm>
          <a:custGeom>
            <a:avLst/>
            <a:gdLst/>
            <a:ahLst/>
            <a:cxnLst/>
            <a:rect r="r" b="b" t="t" l="l"/>
            <a:pathLst>
              <a:path h="2970409" w="5496517">
                <a:moveTo>
                  <a:pt x="5496517" y="0"/>
                </a:moveTo>
                <a:lnTo>
                  <a:pt x="0" y="0"/>
                </a:lnTo>
                <a:lnTo>
                  <a:pt x="0" y="2970409"/>
                </a:lnTo>
                <a:lnTo>
                  <a:pt x="5496517" y="2970409"/>
                </a:lnTo>
                <a:lnTo>
                  <a:pt x="5496517"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6" id="16"/>
          <p:cNvSpPr/>
          <p:nvPr/>
        </p:nvSpPr>
        <p:spPr>
          <a:xfrm flipH="false" flipV="false" rot="-2219639">
            <a:off x="2823991" y="3219767"/>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6777636" y="1354965"/>
            <a:ext cx="4192793" cy="1572796"/>
          </a:xfrm>
          <a:prstGeom prst="rect">
            <a:avLst/>
          </a:prstGeom>
        </p:spPr>
        <p:txBody>
          <a:bodyPr anchor="t" rtlCol="false" tIns="0" lIns="0" bIns="0" rIns="0">
            <a:spAutoFit/>
          </a:bodyPr>
          <a:lstStyle/>
          <a:p>
            <a:pPr algn="l">
              <a:lnSpc>
                <a:spcPts val="9714"/>
              </a:lnSpc>
            </a:pPr>
            <a:r>
              <a:rPr lang="en-US" sz="6939">
                <a:solidFill>
                  <a:srgbClr val="76ADFF"/>
                </a:solidFill>
                <a:latin typeface="Wedges"/>
                <a:ea typeface="Wedges"/>
                <a:cs typeface="Wedges"/>
                <a:sym typeface="Wedges"/>
              </a:rPr>
              <a:t>ANSWERS</a:t>
            </a:r>
          </a:p>
          <a:p>
            <a:pPr algn="l">
              <a:lnSpc>
                <a:spcPts val="2501"/>
              </a:lnSpc>
            </a:pPr>
          </a:p>
        </p:txBody>
      </p:sp>
      <p:sp>
        <p:nvSpPr>
          <p:cNvPr name="Freeform 18" id="18"/>
          <p:cNvSpPr/>
          <p:nvPr/>
        </p:nvSpPr>
        <p:spPr>
          <a:xfrm flipH="false" flipV="false" rot="-2219639">
            <a:off x="2864896" y="4353496"/>
            <a:ext cx="725260" cy="417931"/>
          </a:xfrm>
          <a:custGeom>
            <a:avLst/>
            <a:gdLst/>
            <a:ahLst/>
            <a:cxnLst/>
            <a:rect r="r" b="b" t="t" l="l"/>
            <a:pathLst>
              <a:path h="417931" w="725260">
                <a:moveTo>
                  <a:pt x="0" y="0"/>
                </a:moveTo>
                <a:lnTo>
                  <a:pt x="725259" y="0"/>
                </a:lnTo>
                <a:lnTo>
                  <a:pt x="725259"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9" id="19"/>
          <p:cNvSpPr txBox="true"/>
          <p:nvPr/>
        </p:nvSpPr>
        <p:spPr>
          <a:xfrm rot="0">
            <a:off x="3648887" y="3902739"/>
            <a:ext cx="12494381" cy="149860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Using load balancing to distribute traffic evenly and ensure optimal performance</a:t>
            </a:r>
          </a:p>
          <a:p>
            <a:pPr algn="l">
              <a:lnSpc>
                <a:spcPts val="3499"/>
              </a:lnSpc>
            </a:pPr>
          </a:p>
        </p:txBody>
      </p:sp>
      <p:sp>
        <p:nvSpPr>
          <p:cNvPr name="Freeform 20" id="20"/>
          <p:cNvSpPr/>
          <p:nvPr/>
        </p:nvSpPr>
        <p:spPr>
          <a:xfrm flipH="false" flipV="false" rot="-2219639">
            <a:off x="2823991" y="5685304"/>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1" id="21"/>
          <p:cNvSpPr txBox="true"/>
          <p:nvPr/>
        </p:nvSpPr>
        <p:spPr>
          <a:xfrm rot="0">
            <a:off x="3648887" y="5022710"/>
            <a:ext cx="12329942" cy="149860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Setting up automated monitoring for real-time failure detection and response. Systems should be designed for scalability to handle varying loads, with a distributed architecture to enhance fault tolerance</a:t>
            </a:r>
          </a:p>
        </p:txBody>
      </p:sp>
      <p:sp>
        <p:nvSpPr>
          <p:cNvPr name="Freeform 22" id="22"/>
          <p:cNvSpPr/>
          <p:nvPr/>
        </p:nvSpPr>
        <p:spPr>
          <a:xfrm flipH="false" flipV="false" rot="-2219639">
            <a:off x="2870884" y="7017112"/>
            <a:ext cx="725260" cy="417931"/>
          </a:xfrm>
          <a:custGeom>
            <a:avLst/>
            <a:gdLst/>
            <a:ahLst/>
            <a:cxnLst/>
            <a:rect r="r" b="b" t="t" l="l"/>
            <a:pathLst>
              <a:path h="417931" w="725260">
                <a:moveTo>
                  <a:pt x="0" y="0"/>
                </a:moveTo>
                <a:lnTo>
                  <a:pt x="725259" y="0"/>
                </a:lnTo>
                <a:lnTo>
                  <a:pt x="725259"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3601994" y="6593321"/>
            <a:ext cx="12145252" cy="106045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Employing fault isolation, regular backups, and disaster recovery pla are essential for data protection and quick recovery.</a:t>
            </a:r>
          </a:p>
        </p:txBody>
      </p:sp>
      <p:sp>
        <p:nvSpPr>
          <p:cNvPr name="TextBox 24" id="24"/>
          <p:cNvSpPr txBox="true"/>
          <p:nvPr/>
        </p:nvSpPr>
        <p:spPr>
          <a:xfrm rot="0">
            <a:off x="3642898" y="2769011"/>
            <a:ext cx="12104348" cy="149860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Implementing redundancy across system components to eliminate single points of failure.</a:t>
            </a:r>
          </a:p>
          <a:p>
            <a:pPr algn="l">
              <a:lnSpc>
                <a:spcPts val="3499"/>
              </a:lnSpc>
            </a:pPr>
          </a:p>
        </p:txBody>
      </p:sp>
      <p:sp>
        <p:nvSpPr>
          <p:cNvPr name="TextBox 25" id="25"/>
          <p:cNvSpPr txBox="true"/>
          <p:nvPr/>
        </p:nvSpPr>
        <p:spPr>
          <a:xfrm rot="0">
            <a:off x="3648887" y="7949046"/>
            <a:ext cx="12145252" cy="62230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Store files in S3 and use CloudFront for global speed and reliability.</a:t>
            </a:r>
          </a:p>
        </p:txBody>
      </p:sp>
      <p:sp>
        <p:nvSpPr>
          <p:cNvPr name="Freeform 26" id="26"/>
          <p:cNvSpPr/>
          <p:nvPr/>
        </p:nvSpPr>
        <p:spPr>
          <a:xfrm flipH="false" flipV="false" rot="-2219639">
            <a:off x="2823991" y="8175056"/>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p:cSld>
    <p:bg>
      <p:bgPr>
        <a:solidFill>
          <a:srgbClr val="FFF9EF"/>
        </a:solidFill>
      </p:bgPr>
    </p:bg>
    <p:spTree>
      <p:nvGrpSpPr>
        <p:cNvPr id="1" name=""/>
        <p:cNvGrpSpPr/>
        <p:nvPr/>
      </p:nvGrpSpPr>
      <p:grpSpPr>
        <a:xfrm>
          <a:off x="0" y="0"/>
          <a:ext cx="0" cy="0"/>
          <a:chOff x="0" y="0"/>
          <a:chExt cx="0" cy="0"/>
        </a:xfrm>
      </p:grpSpPr>
      <p:sp>
        <p:nvSpPr>
          <p:cNvPr name="TextBox 2" id="2"/>
          <p:cNvSpPr txBox="true"/>
          <p:nvPr/>
        </p:nvSpPr>
        <p:spPr>
          <a:xfrm rot="0">
            <a:off x="5591015" y="876300"/>
            <a:ext cx="5943600" cy="1295400"/>
          </a:xfrm>
          <a:prstGeom prst="rect">
            <a:avLst/>
          </a:prstGeom>
        </p:spPr>
        <p:txBody>
          <a:bodyPr anchor="t" rtlCol="false" tIns="0" lIns="0" bIns="0" rIns="0">
            <a:spAutoFit/>
          </a:bodyPr>
          <a:lstStyle/>
          <a:p>
            <a:pPr algn="ctr">
              <a:lnSpc>
                <a:spcPts val="10500"/>
              </a:lnSpc>
              <a:spcBef>
                <a:spcPct val="0"/>
              </a:spcBef>
            </a:pPr>
            <a:r>
              <a:rPr lang="en-US" sz="7500">
                <a:solidFill>
                  <a:srgbClr val="76ADFF"/>
                </a:solidFill>
                <a:latin typeface="Wedges"/>
                <a:ea typeface="Wedges"/>
                <a:cs typeface="Wedges"/>
                <a:sym typeface="Wedges"/>
              </a:rPr>
              <a:t> QUESTION 5</a:t>
            </a:r>
          </a:p>
        </p:txBody>
      </p:sp>
      <p:sp>
        <p:nvSpPr>
          <p:cNvPr name="TextBox 3" id="3"/>
          <p:cNvSpPr txBox="true"/>
          <p:nvPr/>
        </p:nvSpPr>
        <p:spPr>
          <a:xfrm rot="0">
            <a:off x="804060" y="3511337"/>
            <a:ext cx="16650257" cy="2071160"/>
          </a:xfrm>
          <a:prstGeom prst="rect">
            <a:avLst/>
          </a:prstGeom>
        </p:spPr>
        <p:txBody>
          <a:bodyPr anchor="t" rtlCol="false" tIns="0" lIns="0" bIns="0" rIns="0">
            <a:spAutoFit/>
          </a:bodyPr>
          <a:lstStyle/>
          <a:p>
            <a:pPr algn="ctr">
              <a:lnSpc>
                <a:spcPts val="5541"/>
              </a:lnSpc>
            </a:pPr>
            <a:r>
              <a:rPr lang="en-US" sz="3958">
                <a:solidFill>
                  <a:srgbClr val="000000"/>
                </a:solidFill>
                <a:latin typeface="Muli"/>
                <a:ea typeface="Muli"/>
                <a:cs typeface="Muli"/>
                <a:sym typeface="Muli"/>
              </a:rPr>
              <a:t>What considerations would you take into account when migrating an existing on-premises application to AWS?</a:t>
            </a:r>
          </a:p>
          <a:p>
            <a:pPr algn="ctr">
              <a:lnSpc>
                <a:spcPts val="5541"/>
              </a:lnSpc>
              <a:spcBef>
                <a:spcPct val="0"/>
              </a:spcBef>
            </a:pPr>
            <a:r>
              <a:rPr lang="en-US" sz="3958">
                <a:solidFill>
                  <a:srgbClr val="000000"/>
                </a:solidFill>
                <a:latin typeface="Muli"/>
                <a:ea typeface="Muli"/>
                <a:cs typeface="Muli"/>
                <a:sym typeface="Muli"/>
              </a:rPr>
              <a:t>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644F3D"/>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05720" y="1170762"/>
            <a:ext cx="15876560" cy="7945476"/>
            <a:chOff x="0" y="0"/>
            <a:chExt cx="4181481" cy="2092636"/>
          </a:xfrm>
        </p:grpSpPr>
        <p:sp>
          <p:nvSpPr>
            <p:cNvPr name="Freeform 7" id="7" descr="ANSWER"/>
            <p:cNvSpPr/>
            <p:nvPr/>
          </p:nvSpPr>
          <p:spPr>
            <a:xfrm flipH="false" flipV="false" rot="0">
              <a:off x="0" y="0"/>
              <a:ext cx="4181481" cy="2092636"/>
            </a:xfrm>
            <a:custGeom>
              <a:avLst/>
              <a:gdLst/>
              <a:ahLst/>
              <a:cxnLst/>
              <a:rect r="r" b="b" t="t" l="l"/>
              <a:pathLst>
                <a:path h="2092636" w="4181481">
                  <a:moveTo>
                    <a:pt x="0" y="0"/>
                  </a:moveTo>
                  <a:lnTo>
                    <a:pt x="4181481" y="0"/>
                  </a:lnTo>
                  <a:lnTo>
                    <a:pt x="4181481" y="2092636"/>
                  </a:lnTo>
                  <a:lnTo>
                    <a:pt x="0" y="2092636"/>
                  </a:lnTo>
                  <a:close/>
                </a:path>
              </a:pathLst>
            </a:custGeom>
            <a:solidFill>
              <a:srgbClr val="FFFFFF"/>
            </a:solidFill>
            <a:ln w="38100" cap="sq">
              <a:solidFill>
                <a:srgbClr val="C1CE9A"/>
              </a:solidFill>
              <a:prstDash val="lgDash"/>
              <a:miter/>
            </a:ln>
          </p:spPr>
        </p:sp>
        <p:sp>
          <p:nvSpPr>
            <p:cNvPr name="TextBox 8" id="8"/>
            <p:cNvSpPr txBox="true"/>
            <p:nvPr/>
          </p:nvSpPr>
          <p:spPr>
            <a:xfrm>
              <a:off x="0" y="-38100"/>
              <a:ext cx="4181481" cy="213073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false" rot="0">
            <a:off x="16143268" y="-3984217"/>
            <a:ext cx="10801253" cy="5756168"/>
          </a:xfrm>
          <a:custGeom>
            <a:avLst/>
            <a:gdLst/>
            <a:ahLst/>
            <a:cxnLst/>
            <a:rect r="r" b="b" t="t" l="l"/>
            <a:pathLst>
              <a:path h="5756168" w="10801253">
                <a:moveTo>
                  <a:pt x="10801252" y="0"/>
                </a:moveTo>
                <a:lnTo>
                  <a:pt x="0" y="0"/>
                </a:lnTo>
                <a:lnTo>
                  <a:pt x="0" y="5756167"/>
                </a:lnTo>
                <a:lnTo>
                  <a:pt x="10801252" y="5756167"/>
                </a:lnTo>
                <a:lnTo>
                  <a:pt x="1080125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false" rot="0">
            <a:off x="292166" y="1438055"/>
            <a:ext cx="1312631" cy="837697"/>
          </a:xfrm>
          <a:custGeom>
            <a:avLst/>
            <a:gdLst/>
            <a:ahLst/>
            <a:cxnLst/>
            <a:rect r="r" b="b" t="t" l="l"/>
            <a:pathLst>
              <a:path h="837697" w="1312631">
                <a:moveTo>
                  <a:pt x="1312631" y="0"/>
                </a:moveTo>
                <a:lnTo>
                  <a:pt x="0" y="0"/>
                </a:lnTo>
                <a:lnTo>
                  <a:pt x="0" y="837697"/>
                </a:lnTo>
                <a:lnTo>
                  <a:pt x="1312631" y="837697"/>
                </a:lnTo>
                <a:lnTo>
                  <a:pt x="1312631"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1" id="11"/>
          <p:cNvSpPr/>
          <p:nvPr/>
        </p:nvSpPr>
        <p:spPr>
          <a:xfrm flipH="false" flipV="false" rot="0">
            <a:off x="1604797" y="308481"/>
            <a:ext cx="1581824" cy="1009491"/>
          </a:xfrm>
          <a:custGeom>
            <a:avLst/>
            <a:gdLst/>
            <a:ahLst/>
            <a:cxnLst/>
            <a:rect r="r" b="b" t="t" l="l"/>
            <a:pathLst>
              <a:path h="1009491" w="1581824">
                <a:moveTo>
                  <a:pt x="0" y="0"/>
                </a:moveTo>
                <a:lnTo>
                  <a:pt x="1581824" y="0"/>
                </a:lnTo>
                <a:lnTo>
                  <a:pt x="1581824" y="1009491"/>
                </a:lnTo>
                <a:lnTo>
                  <a:pt x="0" y="10094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2" id="12"/>
          <p:cNvSpPr/>
          <p:nvPr/>
        </p:nvSpPr>
        <p:spPr>
          <a:xfrm flipH="false" flipV="false" rot="0">
            <a:off x="16143268" y="7552514"/>
            <a:ext cx="1793964" cy="1144875"/>
          </a:xfrm>
          <a:custGeom>
            <a:avLst/>
            <a:gdLst/>
            <a:ahLst/>
            <a:cxnLst/>
            <a:rect r="r" b="b" t="t" l="l"/>
            <a:pathLst>
              <a:path h="1144875" w="1793964">
                <a:moveTo>
                  <a:pt x="0" y="0"/>
                </a:moveTo>
                <a:lnTo>
                  <a:pt x="1793964" y="0"/>
                </a:lnTo>
                <a:lnTo>
                  <a:pt x="1793964" y="1144875"/>
                </a:lnTo>
                <a:lnTo>
                  <a:pt x="0" y="11448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3" id="13"/>
          <p:cNvSpPr/>
          <p:nvPr/>
        </p:nvSpPr>
        <p:spPr>
          <a:xfrm flipH="false" flipV="false" rot="0">
            <a:off x="-8656520" y="-3984217"/>
            <a:ext cx="10801253" cy="5756168"/>
          </a:xfrm>
          <a:custGeom>
            <a:avLst/>
            <a:gdLst/>
            <a:ahLst/>
            <a:cxnLst/>
            <a:rect r="r" b="b" t="t" l="l"/>
            <a:pathLst>
              <a:path h="5756168" w="10801253">
                <a:moveTo>
                  <a:pt x="0" y="0"/>
                </a:moveTo>
                <a:lnTo>
                  <a:pt x="10801252" y="0"/>
                </a:lnTo>
                <a:lnTo>
                  <a:pt x="10801252" y="5756167"/>
                </a:lnTo>
                <a:lnTo>
                  <a:pt x="0" y="5756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469220" y="7641371"/>
            <a:ext cx="5496517" cy="2970409"/>
          </a:xfrm>
          <a:custGeom>
            <a:avLst/>
            <a:gdLst/>
            <a:ahLst/>
            <a:cxnLst/>
            <a:rect r="r" b="b" t="t" l="l"/>
            <a:pathLst>
              <a:path h="2970409" w="5496517">
                <a:moveTo>
                  <a:pt x="0" y="0"/>
                </a:moveTo>
                <a:lnTo>
                  <a:pt x="5496517" y="0"/>
                </a:lnTo>
                <a:lnTo>
                  <a:pt x="5496517" y="2970409"/>
                </a:lnTo>
                <a:lnTo>
                  <a:pt x="0" y="29704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true" flipV="false" rot="0">
            <a:off x="15260703" y="7641371"/>
            <a:ext cx="5496517" cy="2970409"/>
          </a:xfrm>
          <a:custGeom>
            <a:avLst/>
            <a:gdLst/>
            <a:ahLst/>
            <a:cxnLst/>
            <a:rect r="r" b="b" t="t" l="l"/>
            <a:pathLst>
              <a:path h="2970409" w="5496517">
                <a:moveTo>
                  <a:pt x="5496517" y="0"/>
                </a:moveTo>
                <a:lnTo>
                  <a:pt x="0" y="0"/>
                </a:lnTo>
                <a:lnTo>
                  <a:pt x="0" y="2970409"/>
                </a:lnTo>
                <a:lnTo>
                  <a:pt x="5496517" y="2970409"/>
                </a:lnTo>
                <a:lnTo>
                  <a:pt x="5496517"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6" id="16"/>
          <p:cNvSpPr/>
          <p:nvPr/>
        </p:nvSpPr>
        <p:spPr>
          <a:xfrm flipH="false" flipV="false" rot="-2219639">
            <a:off x="2823991" y="3219767"/>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6777636" y="1354965"/>
            <a:ext cx="4192793" cy="1572796"/>
          </a:xfrm>
          <a:prstGeom prst="rect">
            <a:avLst/>
          </a:prstGeom>
        </p:spPr>
        <p:txBody>
          <a:bodyPr anchor="t" rtlCol="false" tIns="0" lIns="0" bIns="0" rIns="0">
            <a:spAutoFit/>
          </a:bodyPr>
          <a:lstStyle/>
          <a:p>
            <a:pPr algn="l">
              <a:lnSpc>
                <a:spcPts val="9714"/>
              </a:lnSpc>
            </a:pPr>
            <a:r>
              <a:rPr lang="en-US" sz="6939">
                <a:solidFill>
                  <a:srgbClr val="76ADFF"/>
                </a:solidFill>
                <a:latin typeface="Wedges"/>
                <a:ea typeface="Wedges"/>
                <a:cs typeface="Wedges"/>
                <a:sym typeface="Wedges"/>
              </a:rPr>
              <a:t>ANSWERS</a:t>
            </a:r>
          </a:p>
          <a:p>
            <a:pPr algn="l">
              <a:lnSpc>
                <a:spcPts val="2501"/>
              </a:lnSpc>
            </a:pPr>
          </a:p>
        </p:txBody>
      </p:sp>
      <p:sp>
        <p:nvSpPr>
          <p:cNvPr name="Freeform 18" id="18"/>
          <p:cNvSpPr/>
          <p:nvPr/>
        </p:nvSpPr>
        <p:spPr>
          <a:xfrm flipH="false" flipV="false" rot="-2219639">
            <a:off x="2864896" y="4353496"/>
            <a:ext cx="725260" cy="417931"/>
          </a:xfrm>
          <a:custGeom>
            <a:avLst/>
            <a:gdLst/>
            <a:ahLst/>
            <a:cxnLst/>
            <a:rect r="r" b="b" t="t" l="l"/>
            <a:pathLst>
              <a:path h="417931" w="725260">
                <a:moveTo>
                  <a:pt x="0" y="0"/>
                </a:moveTo>
                <a:lnTo>
                  <a:pt x="725259" y="0"/>
                </a:lnTo>
                <a:lnTo>
                  <a:pt x="725259"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9" id="19"/>
          <p:cNvSpPr txBox="true"/>
          <p:nvPr/>
        </p:nvSpPr>
        <p:spPr>
          <a:xfrm rot="0">
            <a:off x="3648887" y="3902739"/>
            <a:ext cx="12494381" cy="106045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Choose a migration strategy (6 Rs) — e.g., rehost to EC2 or replatform to EC2 + RDS for better scalability.</a:t>
            </a:r>
          </a:p>
        </p:txBody>
      </p:sp>
      <p:sp>
        <p:nvSpPr>
          <p:cNvPr name="Freeform 20" id="20"/>
          <p:cNvSpPr/>
          <p:nvPr/>
        </p:nvSpPr>
        <p:spPr>
          <a:xfrm flipH="false" flipV="false" rot="-2219639">
            <a:off x="2823991" y="5685304"/>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1" id="21"/>
          <p:cNvSpPr txBox="true"/>
          <p:nvPr/>
        </p:nvSpPr>
        <p:spPr>
          <a:xfrm rot="0">
            <a:off x="3648887" y="5218925"/>
            <a:ext cx="12329942" cy="106045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Design AWS architecture — VPC, subnets, EC2, load balancer, RDS, S3, IAM security, monitoring</a:t>
            </a:r>
          </a:p>
        </p:txBody>
      </p:sp>
      <p:sp>
        <p:nvSpPr>
          <p:cNvPr name="Freeform 22" id="22"/>
          <p:cNvSpPr/>
          <p:nvPr/>
        </p:nvSpPr>
        <p:spPr>
          <a:xfrm flipH="false" flipV="false" rot="-2219639">
            <a:off x="2870884" y="7017112"/>
            <a:ext cx="725260" cy="417931"/>
          </a:xfrm>
          <a:custGeom>
            <a:avLst/>
            <a:gdLst/>
            <a:ahLst/>
            <a:cxnLst/>
            <a:rect r="r" b="b" t="t" l="l"/>
            <a:pathLst>
              <a:path h="417931" w="725260">
                <a:moveTo>
                  <a:pt x="0" y="0"/>
                </a:moveTo>
                <a:lnTo>
                  <a:pt x="725259" y="0"/>
                </a:lnTo>
                <a:lnTo>
                  <a:pt x="725259"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3601994" y="6593321"/>
            <a:ext cx="12145252" cy="106045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Plan and execute data migration — use AWS DMS/Snowball, ensure minimal downtime, and migrate files, DB, and configurations.</a:t>
            </a:r>
          </a:p>
        </p:txBody>
      </p:sp>
      <p:sp>
        <p:nvSpPr>
          <p:cNvPr name="TextBox 24" id="24"/>
          <p:cNvSpPr txBox="true"/>
          <p:nvPr/>
        </p:nvSpPr>
        <p:spPr>
          <a:xfrm rot="0">
            <a:off x="3642898" y="2769011"/>
            <a:ext cx="12104348" cy="106045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Assess the existing environment — understand servers, dependencies, data size, performance, and security/compliance needs.</a:t>
            </a:r>
          </a:p>
        </p:txBody>
      </p:sp>
      <p:sp>
        <p:nvSpPr>
          <p:cNvPr name="TextBox 25" id="25"/>
          <p:cNvSpPr txBox="true"/>
          <p:nvPr/>
        </p:nvSpPr>
        <p:spPr>
          <a:xfrm rot="0">
            <a:off x="3648887" y="7751265"/>
            <a:ext cx="12145252" cy="106045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Test and cut over — validate functionality, performance, failover, switch DNS, apply cost optimization and monitoring post-migration.</a:t>
            </a:r>
          </a:p>
        </p:txBody>
      </p:sp>
      <p:sp>
        <p:nvSpPr>
          <p:cNvPr name="Freeform 26" id="26"/>
          <p:cNvSpPr/>
          <p:nvPr/>
        </p:nvSpPr>
        <p:spPr>
          <a:xfrm flipH="false" flipV="false" rot="-2219639">
            <a:off x="2823991" y="8175056"/>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p:cSld>
    <p:bg>
      <p:bgPr>
        <a:solidFill>
          <a:srgbClr val="FFF9EF"/>
        </a:solidFill>
      </p:bgPr>
    </p:bg>
    <p:spTree>
      <p:nvGrpSpPr>
        <p:cNvPr id="1" name=""/>
        <p:cNvGrpSpPr/>
        <p:nvPr/>
      </p:nvGrpSpPr>
      <p:grpSpPr>
        <a:xfrm>
          <a:off x="0" y="0"/>
          <a:ext cx="0" cy="0"/>
          <a:chOff x="0" y="0"/>
          <a:chExt cx="0" cy="0"/>
        </a:xfrm>
      </p:grpSpPr>
      <p:sp>
        <p:nvSpPr>
          <p:cNvPr name="TextBox 2" id="2"/>
          <p:cNvSpPr txBox="true"/>
          <p:nvPr/>
        </p:nvSpPr>
        <p:spPr>
          <a:xfrm rot="0">
            <a:off x="5583395" y="876300"/>
            <a:ext cx="5958840" cy="1295400"/>
          </a:xfrm>
          <a:prstGeom prst="rect">
            <a:avLst/>
          </a:prstGeom>
        </p:spPr>
        <p:txBody>
          <a:bodyPr anchor="t" rtlCol="false" tIns="0" lIns="0" bIns="0" rIns="0">
            <a:spAutoFit/>
          </a:bodyPr>
          <a:lstStyle/>
          <a:p>
            <a:pPr algn="ctr">
              <a:lnSpc>
                <a:spcPts val="10500"/>
              </a:lnSpc>
              <a:spcBef>
                <a:spcPct val="0"/>
              </a:spcBef>
            </a:pPr>
            <a:r>
              <a:rPr lang="en-US" sz="7500">
                <a:solidFill>
                  <a:srgbClr val="76ADFF"/>
                </a:solidFill>
                <a:latin typeface="Wedges"/>
                <a:ea typeface="Wedges"/>
                <a:cs typeface="Wedges"/>
                <a:sym typeface="Wedges"/>
              </a:rPr>
              <a:t> QUESTION 6</a:t>
            </a:r>
          </a:p>
        </p:txBody>
      </p:sp>
      <p:sp>
        <p:nvSpPr>
          <p:cNvPr name="TextBox 3" id="3"/>
          <p:cNvSpPr txBox="true"/>
          <p:nvPr/>
        </p:nvSpPr>
        <p:spPr>
          <a:xfrm rot="0">
            <a:off x="804060" y="3511337"/>
            <a:ext cx="16650257" cy="2071160"/>
          </a:xfrm>
          <a:prstGeom prst="rect">
            <a:avLst/>
          </a:prstGeom>
        </p:spPr>
        <p:txBody>
          <a:bodyPr anchor="t" rtlCol="false" tIns="0" lIns="0" bIns="0" rIns="0">
            <a:spAutoFit/>
          </a:bodyPr>
          <a:lstStyle/>
          <a:p>
            <a:pPr algn="ctr">
              <a:lnSpc>
                <a:spcPts val="5541"/>
              </a:lnSpc>
            </a:pPr>
            <a:r>
              <a:rPr lang="en-US" sz="3958">
                <a:solidFill>
                  <a:srgbClr val="000000"/>
                </a:solidFill>
                <a:latin typeface="Muli"/>
                <a:ea typeface="Muli"/>
                <a:cs typeface="Muli"/>
                <a:sym typeface="Muli"/>
              </a:rPr>
              <a:t> . Elastic Load Balancer  Not Distributing Traffic </a:t>
            </a:r>
          </a:p>
          <a:p>
            <a:pPr algn="ctr">
              <a:lnSpc>
                <a:spcPts val="5541"/>
              </a:lnSpc>
            </a:pPr>
            <a:r>
              <a:rPr lang="en-US" sz="3958">
                <a:solidFill>
                  <a:srgbClr val="000000"/>
                </a:solidFill>
                <a:latin typeface="Muli"/>
                <a:ea typeface="Muli"/>
                <a:cs typeface="Muli"/>
                <a:sym typeface="Muli"/>
              </a:rPr>
              <a:t>What Troubleshooting Steps do you take:</a:t>
            </a:r>
          </a:p>
          <a:p>
            <a:pPr algn="ctr">
              <a:lnSpc>
                <a:spcPts val="5541"/>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644F3D"/>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05720" y="1170762"/>
            <a:ext cx="15876560" cy="7945476"/>
            <a:chOff x="0" y="0"/>
            <a:chExt cx="4181481" cy="2092636"/>
          </a:xfrm>
        </p:grpSpPr>
        <p:sp>
          <p:nvSpPr>
            <p:cNvPr name="Freeform 7" id="7" descr="ANSWER"/>
            <p:cNvSpPr/>
            <p:nvPr/>
          </p:nvSpPr>
          <p:spPr>
            <a:xfrm flipH="false" flipV="false" rot="0">
              <a:off x="0" y="0"/>
              <a:ext cx="4181481" cy="2092636"/>
            </a:xfrm>
            <a:custGeom>
              <a:avLst/>
              <a:gdLst/>
              <a:ahLst/>
              <a:cxnLst/>
              <a:rect r="r" b="b" t="t" l="l"/>
              <a:pathLst>
                <a:path h="2092636" w="4181481">
                  <a:moveTo>
                    <a:pt x="0" y="0"/>
                  </a:moveTo>
                  <a:lnTo>
                    <a:pt x="4181481" y="0"/>
                  </a:lnTo>
                  <a:lnTo>
                    <a:pt x="4181481" y="2092636"/>
                  </a:lnTo>
                  <a:lnTo>
                    <a:pt x="0" y="2092636"/>
                  </a:lnTo>
                  <a:close/>
                </a:path>
              </a:pathLst>
            </a:custGeom>
            <a:solidFill>
              <a:srgbClr val="FFFFFF"/>
            </a:solidFill>
            <a:ln w="38100" cap="sq">
              <a:solidFill>
                <a:srgbClr val="C1CE9A"/>
              </a:solidFill>
              <a:prstDash val="lgDash"/>
              <a:miter/>
            </a:ln>
          </p:spPr>
        </p:sp>
        <p:sp>
          <p:nvSpPr>
            <p:cNvPr name="TextBox 8" id="8"/>
            <p:cNvSpPr txBox="true"/>
            <p:nvPr/>
          </p:nvSpPr>
          <p:spPr>
            <a:xfrm>
              <a:off x="0" y="-38100"/>
              <a:ext cx="4181481" cy="213073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false" rot="0">
            <a:off x="16143268" y="-3984217"/>
            <a:ext cx="10801253" cy="5756168"/>
          </a:xfrm>
          <a:custGeom>
            <a:avLst/>
            <a:gdLst/>
            <a:ahLst/>
            <a:cxnLst/>
            <a:rect r="r" b="b" t="t" l="l"/>
            <a:pathLst>
              <a:path h="5756168" w="10801253">
                <a:moveTo>
                  <a:pt x="10801252" y="0"/>
                </a:moveTo>
                <a:lnTo>
                  <a:pt x="0" y="0"/>
                </a:lnTo>
                <a:lnTo>
                  <a:pt x="0" y="5756167"/>
                </a:lnTo>
                <a:lnTo>
                  <a:pt x="10801252" y="5756167"/>
                </a:lnTo>
                <a:lnTo>
                  <a:pt x="1080125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false" rot="0">
            <a:off x="292166" y="1438055"/>
            <a:ext cx="1312631" cy="837697"/>
          </a:xfrm>
          <a:custGeom>
            <a:avLst/>
            <a:gdLst/>
            <a:ahLst/>
            <a:cxnLst/>
            <a:rect r="r" b="b" t="t" l="l"/>
            <a:pathLst>
              <a:path h="837697" w="1312631">
                <a:moveTo>
                  <a:pt x="1312631" y="0"/>
                </a:moveTo>
                <a:lnTo>
                  <a:pt x="0" y="0"/>
                </a:lnTo>
                <a:lnTo>
                  <a:pt x="0" y="837697"/>
                </a:lnTo>
                <a:lnTo>
                  <a:pt x="1312631" y="837697"/>
                </a:lnTo>
                <a:lnTo>
                  <a:pt x="1312631"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1" id="11"/>
          <p:cNvSpPr/>
          <p:nvPr/>
        </p:nvSpPr>
        <p:spPr>
          <a:xfrm flipH="false" flipV="false" rot="0">
            <a:off x="1604797" y="308481"/>
            <a:ext cx="1581824" cy="1009491"/>
          </a:xfrm>
          <a:custGeom>
            <a:avLst/>
            <a:gdLst/>
            <a:ahLst/>
            <a:cxnLst/>
            <a:rect r="r" b="b" t="t" l="l"/>
            <a:pathLst>
              <a:path h="1009491" w="1581824">
                <a:moveTo>
                  <a:pt x="0" y="0"/>
                </a:moveTo>
                <a:lnTo>
                  <a:pt x="1581824" y="0"/>
                </a:lnTo>
                <a:lnTo>
                  <a:pt x="1581824" y="1009491"/>
                </a:lnTo>
                <a:lnTo>
                  <a:pt x="0" y="10094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2" id="12"/>
          <p:cNvSpPr/>
          <p:nvPr/>
        </p:nvSpPr>
        <p:spPr>
          <a:xfrm flipH="false" flipV="false" rot="0">
            <a:off x="16143268" y="7552514"/>
            <a:ext cx="1793964" cy="1144875"/>
          </a:xfrm>
          <a:custGeom>
            <a:avLst/>
            <a:gdLst/>
            <a:ahLst/>
            <a:cxnLst/>
            <a:rect r="r" b="b" t="t" l="l"/>
            <a:pathLst>
              <a:path h="1144875" w="1793964">
                <a:moveTo>
                  <a:pt x="0" y="0"/>
                </a:moveTo>
                <a:lnTo>
                  <a:pt x="1793964" y="0"/>
                </a:lnTo>
                <a:lnTo>
                  <a:pt x="1793964" y="1144875"/>
                </a:lnTo>
                <a:lnTo>
                  <a:pt x="0" y="11448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3" id="13"/>
          <p:cNvSpPr/>
          <p:nvPr/>
        </p:nvSpPr>
        <p:spPr>
          <a:xfrm flipH="false" flipV="false" rot="0">
            <a:off x="-8656520" y="-3984217"/>
            <a:ext cx="10801253" cy="5756168"/>
          </a:xfrm>
          <a:custGeom>
            <a:avLst/>
            <a:gdLst/>
            <a:ahLst/>
            <a:cxnLst/>
            <a:rect r="r" b="b" t="t" l="l"/>
            <a:pathLst>
              <a:path h="5756168" w="10801253">
                <a:moveTo>
                  <a:pt x="0" y="0"/>
                </a:moveTo>
                <a:lnTo>
                  <a:pt x="10801252" y="0"/>
                </a:lnTo>
                <a:lnTo>
                  <a:pt x="10801252" y="5756167"/>
                </a:lnTo>
                <a:lnTo>
                  <a:pt x="0" y="5756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469220" y="7641371"/>
            <a:ext cx="5496517" cy="2970409"/>
          </a:xfrm>
          <a:custGeom>
            <a:avLst/>
            <a:gdLst/>
            <a:ahLst/>
            <a:cxnLst/>
            <a:rect r="r" b="b" t="t" l="l"/>
            <a:pathLst>
              <a:path h="2970409" w="5496517">
                <a:moveTo>
                  <a:pt x="0" y="0"/>
                </a:moveTo>
                <a:lnTo>
                  <a:pt x="5496517" y="0"/>
                </a:lnTo>
                <a:lnTo>
                  <a:pt x="5496517" y="2970409"/>
                </a:lnTo>
                <a:lnTo>
                  <a:pt x="0" y="29704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true" flipV="false" rot="0">
            <a:off x="15260703" y="7641371"/>
            <a:ext cx="5496517" cy="2970409"/>
          </a:xfrm>
          <a:custGeom>
            <a:avLst/>
            <a:gdLst/>
            <a:ahLst/>
            <a:cxnLst/>
            <a:rect r="r" b="b" t="t" l="l"/>
            <a:pathLst>
              <a:path h="2970409" w="5496517">
                <a:moveTo>
                  <a:pt x="5496517" y="0"/>
                </a:moveTo>
                <a:lnTo>
                  <a:pt x="0" y="0"/>
                </a:lnTo>
                <a:lnTo>
                  <a:pt x="0" y="2970409"/>
                </a:lnTo>
                <a:lnTo>
                  <a:pt x="5496517" y="2970409"/>
                </a:lnTo>
                <a:lnTo>
                  <a:pt x="5496517"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6" id="16"/>
          <p:cNvSpPr/>
          <p:nvPr/>
        </p:nvSpPr>
        <p:spPr>
          <a:xfrm flipH="false" flipV="false" rot="-2219639">
            <a:off x="2823991" y="3219767"/>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6777636" y="1354965"/>
            <a:ext cx="4192793" cy="1572796"/>
          </a:xfrm>
          <a:prstGeom prst="rect">
            <a:avLst/>
          </a:prstGeom>
        </p:spPr>
        <p:txBody>
          <a:bodyPr anchor="t" rtlCol="false" tIns="0" lIns="0" bIns="0" rIns="0">
            <a:spAutoFit/>
          </a:bodyPr>
          <a:lstStyle/>
          <a:p>
            <a:pPr algn="l">
              <a:lnSpc>
                <a:spcPts val="9714"/>
              </a:lnSpc>
            </a:pPr>
            <a:r>
              <a:rPr lang="en-US" sz="6939">
                <a:solidFill>
                  <a:srgbClr val="76ADFF"/>
                </a:solidFill>
                <a:latin typeface="Wedges"/>
                <a:ea typeface="Wedges"/>
                <a:cs typeface="Wedges"/>
                <a:sym typeface="Wedges"/>
              </a:rPr>
              <a:t>ANSWERS</a:t>
            </a:r>
          </a:p>
          <a:p>
            <a:pPr algn="l">
              <a:lnSpc>
                <a:spcPts val="2501"/>
              </a:lnSpc>
            </a:pPr>
          </a:p>
        </p:txBody>
      </p:sp>
      <p:sp>
        <p:nvSpPr>
          <p:cNvPr name="Freeform 18" id="18"/>
          <p:cNvSpPr/>
          <p:nvPr/>
        </p:nvSpPr>
        <p:spPr>
          <a:xfrm flipH="false" flipV="false" rot="-2219639">
            <a:off x="2823991" y="4549428"/>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9" id="19"/>
          <p:cNvSpPr txBox="true"/>
          <p:nvPr/>
        </p:nvSpPr>
        <p:spPr>
          <a:xfrm rot="0">
            <a:off x="3648887" y="4105686"/>
            <a:ext cx="12494381" cy="106045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Check security groups and network ACLs allowing traffic to and from ELB.</a:t>
            </a:r>
          </a:p>
          <a:p>
            <a:pPr algn="l">
              <a:lnSpc>
                <a:spcPts val="3499"/>
              </a:lnSpc>
            </a:pPr>
          </a:p>
        </p:txBody>
      </p:sp>
      <p:sp>
        <p:nvSpPr>
          <p:cNvPr name="Freeform 20" id="20"/>
          <p:cNvSpPr/>
          <p:nvPr/>
        </p:nvSpPr>
        <p:spPr>
          <a:xfrm flipH="false" flipV="false" rot="-2219639">
            <a:off x="2823991" y="5685304"/>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1" id="21"/>
          <p:cNvSpPr txBox="true"/>
          <p:nvPr/>
        </p:nvSpPr>
        <p:spPr>
          <a:xfrm rot="0">
            <a:off x="3648887" y="5382698"/>
            <a:ext cx="13196327" cy="1003586"/>
          </a:xfrm>
          <a:prstGeom prst="rect">
            <a:avLst/>
          </a:prstGeom>
        </p:spPr>
        <p:txBody>
          <a:bodyPr anchor="t" rtlCol="false" tIns="0" lIns="0" bIns="0" rIns="0">
            <a:spAutoFit/>
          </a:bodyPr>
          <a:lstStyle/>
          <a:p>
            <a:pPr algn="l">
              <a:lnSpc>
                <a:spcPts val="3296"/>
              </a:lnSpc>
            </a:pPr>
            <a:r>
              <a:rPr lang="en-US" sz="2354">
                <a:solidFill>
                  <a:srgbClr val="65503D"/>
                </a:solidFill>
                <a:latin typeface="Jella"/>
                <a:ea typeface="Jella"/>
                <a:cs typeface="Jella"/>
                <a:sym typeface="Jella"/>
              </a:rPr>
              <a:t> Verify that listeners are configured properly (e.g., HTTP/HTTPS on correct ports</a:t>
            </a:r>
          </a:p>
          <a:p>
            <a:pPr algn="l">
              <a:lnSpc>
                <a:spcPts val="3296"/>
              </a:lnSpc>
            </a:pPr>
          </a:p>
        </p:txBody>
      </p:sp>
      <p:sp>
        <p:nvSpPr>
          <p:cNvPr name="Freeform 22" id="22"/>
          <p:cNvSpPr/>
          <p:nvPr/>
        </p:nvSpPr>
        <p:spPr>
          <a:xfrm flipH="false" flipV="false" rot="-2219639">
            <a:off x="2870884" y="7017112"/>
            <a:ext cx="725260" cy="417931"/>
          </a:xfrm>
          <a:custGeom>
            <a:avLst/>
            <a:gdLst/>
            <a:ahLst/>
            <a:cxnLst/>
            <a:rect r="r" b="b" t="t" l="l"/>
            <a:pathLst>
              <a:path h="417931" w="725260">
                <a:moveTo>
                  <a:pt x="0" y="0"/>
                </a:moveTo>
                <a:lnTo>
                  <a:pt x="725259" y="0"/>
                </a:lnTo>
                <a:lnTo>
                  <a:pt x="725259"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3601994" y="6681559"/>
            <a:ext cx="12145252" cy="106045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Ensure proper instance registration in the target group.</a:t>
            </a:r>
          </a:p>
          <a:p>
            <a:pPr algn="l">
              <a:lnSpc>
                <a:spcPts val="3499"/>
              </a:lnSpc>
            </a:pPr>
          </a:p>
        </p:txBody>
      </p:sp>
      <p:sp>
        <p:nvSpPr>
          <p:cNvPr name="TextBox 24" id="24"/>
          <p:cNvSpPr txBox="true"/>
          <p:nvPr/>
        </p:nvSpPr>
        <p:spPr>
          <a:xfrm rot="0">
            <a:off x="3642898" y="2769011"/>
            <a:ext cx="12104348" cy="149860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Ensure target instances are healthy (Load Balancer → Target Groups → </a:t>
            </a:r>
          </a:p>
          <a:p>
            <a:pPr algn="l">
              <a:lnSpc>
                <a:spcPts val="3499"/>
              </a:lnSpc>
            </a:pPr>
            <a:r>
              <a:rPr lang="en-US" sz="2499">
                <a:solidFill>
                  <a:srgbClr val="65503D"/>
                </a:solidFill>
                <a:latin typeface="Jella"/>
                <a:ea typeface="Jella"/>
                <a:cs typeface="Jella"/>
                <a:sym typeface="Jella"/>
              </a:rPr>
              <a:t>Health Status).</a:t>
            </a:r>
          </a:p>
          <a:p>
            <a:pPr algn="l">
              <a:lnSpc>
                <a:spcPts val="3499"/>
              </a:lnSpc>
            </a:pPr>
          </a:p>
        </p:txBody>
      </p:sp>
      <p:sp>
        <p:nvSpPr>
          <p:cNvPr name="TextBox 25" id="25"/>
          <p:cNvSpPr txBox="true"/>
          <p:nvPr/>
        </p:nvSpPr>
        <p:spPr>
          <a:xfrm rot="0">
            <a:off x="3648887" y="7949046"/>
            <a:ext cx="12145252" cy="106045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Check CloudWatch metrics for ELB traffic patterns.</a:t>
            </a:r>
          </a:p>
          <a:p>
            <a:pPr algn="l">
              <a:lnSpc>
                <a:spcPts val="3499"/>
              </a:lnSpc>
            </a:pPr>
          </a:p>
        </p:txBody>
      </p:sp>
      <p:sp>
        <p:nvSpPr>
          <p:cNvPr name="Freeform 26" id="26"/>
          <p:cNvSpPr/>
          <p:nvPr/>
        </p:nvSpPr>
        <p:spPr>
          <a:xfrm flipH="false" flipV="false" rot="-2219639">
            <a:off x="2823991" y="8175056"/>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p:cSld>
    <p:bg>
      <p:bgPr>
        <a:solidFill>
          <a:srgbClr val="FFF9EF"/>
        </a:solidFill>
      </p:bgPr>
    </p:bg>
    <p:spTree>
      <p:nvGrpSpPr>
        <p:cNvPr id="1" name=""/>
        <p:cNvGrpSpPr/>
        <p:nvPr/>
      </p:nvGrpSpPr>
      <p:grpSpPr>
        <a:xfrm>
          <a:off x="0" y="0"/>
          <a:ext cx="0" cy="0"/>
          <a:chOff x="0" y="0"/>
          <a:chExt cx="0" cy="0"/>
        </a:xfrm>
      </p:grpSpPr>
      <p:sp>
        <p:nvSpPr>
          <p:cNvPr name="TextBox 2" id="2"/>
          <p:cNvSpPr txBox="true"/>
          <p:nvPr/>
        </p:nvSpPr>
        <p:spPr>
          <a:xfrm rot="0">
            <a:off x="5606255" y="876300"/>
            <a:ext cx="5913120" cy="1295400"/>
          </a:xfrm>
          <a:prstGeom prst="rect">
            <a:avLst/>
          </a:prstGeom>
        </p:spPr>
        <p:txBody>
          <a:bodyPr anchor="t" rtlCol="false" tIns="0" lIns="0" bIns="0" rIns="0">
            <a:spAutoFit/>
          </a:bodyPr>
          <a:lstStyle/>
          <a:p>
            <a:pPr algn="ctr">
              <a:lnSpc>
                <a:spcPts val="10500"/>
              </a:lnSpc>
              <a:spcBef>
                <a:spcPct val="0"/>
              </a:spcBef>
            </a:pPr>
            <a:r>
              <a:rPr lang="en-US" sz="7500">
                <a:solidFill>
                  <a:srgbClr val="76ADFF"/>
                </a:solidFill>
                <a:latin typeface="Wedges"/>
                <a:ea typeface="Wedges"/>
                <a:cs typeface="Wedges"/>
                <a:sym typeface="Wedges"/>
              </a:rPr>
              <a:t> QUESTION 7</a:t>
            </a:r>
          </a:p>
        </p:txBody>
      </p:sp>
      <p:sp>
        <p:nvSpPr>
          <p:cNvPr name="TextBox 3" id="3"/>
          <p:cNvSpPr txBox="true"/>
          <p:nvPr/>
        </p:nvSpPr>
        <p:spPr>
          <a:xfrm rot="0">
            <a:off x="804060" y="3511337"/>
            <a:ext cx="16650257" cy="2071160"/>
          </a:xfrm>
          <a:prstGeom prst="rect">
            <a:avLst/>
          </a:prstGeom>
        </p:spPr>
        <p:txBody>
          <a:bodyPr anchor="t" rtlCol="false" tIns="0" lIns="0" bIns="0" rIns="0">
            <a:spAutoFit/>
          </a:bodyPr>
          <a:lstStyle/>
          <a:p>
            <a:pPr algn="ctr">
              <a:lnSpc>
                <a:spcPts val="5541"/>
              </a:lnSpc>
            </a:pPr>
            <a:r>
              <a:rPr lang="en-US" sz="3958">
                <a:solidFill>
                  <a:srgbClr val="000000"/>
                </a:solidFill>
                <a:latin typeface="Muli"/>
                <a:ea typeface="Muli"/>
                <a:cs typeface="Muli"/>
                <a:sym typeface="Muli"/>
              </a:rPr>
              <a:t>An IAM User Unable to Assume Role</a:t>
            </a:r>
          </a:p>
          <a:p>
            <a:pPr algn="ctr">
              <a:lnSpc>
                <a:spcPts val="5541"/>
              </a:lnSpc>
            </a:pPr>
            <a:r>
              <a:rPr lang="en-US" sz="3958">
                <a:solidFill>
                  <a:srgbClr val="000000"/>
                </a:solidFill>
                <a:latin typeface="Muli"/>
                <a:ea typeface="Muli"/>
                <a:cs typeface="Muli"/>
                <a:sym typeface="Muli"/>
              </a:rPr>
              <a:t> . </a:t>
            </a:r>
          </a:p>
          <a:p>
            <a:pPr algn="ctr">
              <a:lnSpc>
                <a:spcPts val="5541"/>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644F3D"/>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05720" y="1170762"/>
            <a:ext cx="15876560" cy="7945476"/>
            <a:chOff x="0" y="0"/>
            <a:chExt cx="4181481" cy="2092636"/>
          </a:xfrm>
        </p:grpSpPr>
        <p:sp>
          <p:nvSpPr>
            <p:cNvPr name="Freeform 7" id="7" descr="ANSWER"/>
            <p:cNvSpPr/>
            <p:nvPr/>
          </p:nvSpPr>
          <p:spPr>
            <a:xfrm flipH="false" flipV="false" rot="0">
              <a:off x="0" y="0"/>
              <a:ext cx="4181481" cy="2092636"/>
            </a:xfrm>
            <a:custGeom>
              <a:avLst/>
              <a:gdLst/>
              <a:ahLst/>
              <a:cxnLst/>
              <a:rect r="r" b="b" t="t" l="l"/>
              <a:pathLst>
                <a:path h="2092636" w="4181481">
                  <a:moveTo>
                    <a:pt x="0" y="0"/>
                  </a:moveTo>
                  <a:lnTo>
                    <a:pt x="4181481" y="0"/>
                  </a:lnTo>
                  <a:lnTo>
                    <a:pt x="4181481" y="2092636"/>
                  </a:lnTo>
                  <a:lnTo>
                    <a:pt x="0" y="2092636"/>
                  </a:lnTo>
                  <a:close/>
                </a:path>
              </a:pathLst>
            </a:custGeom>
            <a:solidFill>
              <a:srgbClr val="FFFFFF"/>
            </a:solidFill>
            <a:ln w="38100" cap="sq">
              <a:solidFill>
                <a:srgbClr val="C1CE9A"/>
              </a:solidFill>
              <a:prstDash val="lgDash"/>
              <a:miter/>
            </a:ln>
          </p:spPr>
        </p:sp>
        <p:sp>
          <p:nvSpPr>
            <p:cNvPr name="TextBox 8" id="8"/>
            <p:cNvSpPr txBox="true"/>
            <p:nvPr/>
          </p:nvSpPr>
          <p:spPr>
            <a:xfrm>
              <a:off x="0" y="-38100"/>
              <a:ext cx="4181481" cy="213073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false" rot="0">
            <a:off x="16143268" y="-3984217"/>
            <a:ext cx="10801253" cy="5756168"/>
          </a:xfrm>
          <a:custGeom>
            <a:avLst/>
            <a:gdLst/>
            <a:ahLst/>
            <a:cxnLst/>
            <a:rect r="r" b="b" t="t" l="l"/>
            <a:pathLst>
              <a:path h="5756168" w="10801253">
                <a:moveTo>
                  <a:pt x="10801252" y="0"/>
                </a:moveTo>
                <a:lnTo>
                  <a:pt x="0" y="0"/>
                </a:lnTo>
                <a:lnTo>
                  <a:pt x="0" y="5756167"/>
                </a:lnTo>
                <a:lnTo>
                  <a:pt x="10801252" y="5756167"/>
                </a:lnTo>
                <a:lnTo>
                  <a:pt x="1080125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false" rot="0">
            <a:off x="292166" y="1438055"/>
            <a:ext cx="1312631" cy="837697"/>
          </a:xfrm>
          <a:custGeom>
            <a:avLst/>
            <a:gdLst/>
            <a:ahLst/>
            <a:cxnLst/>
            <a:rect r="r" b="b" t="t" l="l"/>
            <a:pathLst>
              <a:path h="837697" w="1312631">
                <a:moveTo>
                  <a:pt x="1312631" y="0"/>
                </a:moveTo>
                <a:lnTo>
                  <a:pt x="0" y="0"/>
                </a:lnTo>
                <a:lnTo>
                  <a:pt x="0" y="837697"/>
                </a:lnTo>
                <a:lnTo>
                  <a:pt x="1312631" y="837697"/>
                </a:lnTo>
                <a:lnTo>
                  <a:pt x="1312631"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1" id="11"/>
          <p:cNvSpPr/>
          <p:nvPr/>
        </p:nvSpPr>
        <p:spPr>
          <a:xfrm flipH="false" flipV="false" rot="0">
            <a:off x="1604797" y="308481"/>
            <a:ext cx="1581824" cy="1009491"/>
          </a:xfrm>
          <a:custGeom>
            <a:avLst/>
            <a:gdLst/>
            <a:ahLst/>
            <a:cxnLst/>
            <a:rect r="r" b="b" t="t" l="l"/>
            <a:pathLst>
              <a:path h="1009491" w="1581824">
                <a:moveTo>
                  <a:pt x="0" y="0"/>
                </a:moveTo>
                <a:lnTo>
                  <a:pt x="1581824" y="0"/>
                </a:lnTo>
                <a:lnTo>
                  <a:pt x="1581824" y="1009491"/>
                </a:lnTo>
                <a:lnTo>
                  <a:pt x="0" y="10094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2" id="12"/>
          <p:cNvSpPr/>
          <p:nvPr/>
        </p:nvSpPr>
        <p:spPr>
          <a:xfrm flipH="false" flipV="false" rot="0">
            <a:off x="16143268" y="7552514"/>
            <a:ext cx="1793964" cy="1144875"/>
          </a:xfrm>
          <a:custGeom>
            <a:avLst/>
            <a:gdLst/>
            <a:ahLst/>
            <a:cxnLst/>
            <a:rect r="r" b="b" t="t" l="l"/>
            <a:pathLst>
              <a:path h="1144875" w="1793964">
                <a:moveTo>
                  <a:pt x="0" y="0"/>
                </a:moveTo>
                <a:lnTo>
                  <a:pt x="1793964" y="0"/>
                </a:lnTo>
                <a:lnTo>
                  <a:pt x="1793964" y="1144875"/>
                </a:lnTo>
                <a:lnTo>
                  <a:pt x="0" y="11448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3" id="13"/>
          <p:cNvSpPr/>
          <p:nvPr/>
        </p:nvSpPr>
        <p:spPr>
          <a:xfrm flipH="false" flipV="false" rot="0">
            <a:off x="-8656520" y="-3984217"/>
            <a:ext cx="10801253" cy="5756168"/>
          </a:xfrm>
          <a:custGeom>
            <a:avLst/>
            <a:gdLst/>
            <a:ahLst/>
            <a:cxnLst/>
            <a:rect r="r" b="b" t="t" l="l"/>
            <a:pathLst>
              <a:path h="5756168" w="10801253">
                <a:moveTo>
                  <a:pt x="0" y="0"/>
                </a:moveTo>
                <a:lnTo>
                  <a:pt x="10801252" y="0"/>
                </a:lnTo>
                <a:lnTo>
                  <a:pt x="10801252" y="5756167"/>
                </a:lnTo>
                <a:lnTo>
                  <a:pt x="0" y="5756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469220" y="7641371"/>
            <a:ext cx="5496517" cy="2970409"/>
          </a:xfrm>
          <a:custGeom>
            <a:avLst/>
            <a:gdLst/>
            <a:ahLst/>
            <a:cxnLst/>
            <a:rect r="r" b="b" t="t" l="l"/>
            <a:pathLst>
              <a:path h="2970409" w="5496517">
                <a:moveTo>
                  <a:pt x="0" y="0"/>
                </a:moveTo>
                <a:lnTo>
                  <a:pt x="5496517" y="0"/>
                </a:lnTo>
                <a:lnTo>
                  <a:pt x="5496517" y="2970409"/>
                </a:lnTo>
                <a:lnTo>
                  <a:pt x="0" y="29704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true" flipV="false" rot="0">
            <a:off x="15260703" y="7641371"/>
            <a:ext cx="5496517" cy="2970409"/>
          </a:xfrm>
          <a:custGeom>
            <a:avLst/>
            <a:gdLst/>
            <a:ahLst/>
            <a:cxnLst/>
            <a:rect r="r" b="b" t="t" l="l"/>
            <a:pathLst>
              <a:path h="2970409" w="5496517">
                <a:moveTo>
                  <a:pt x="5496517" y="0"/>
                </a:moveTo>
                <a:lnTo>
                  <a:pt x="0" y="0"/>
                </a:lnTo>
                <a:lnTo>
                  <a:pt x="0" y="2970409"/>
                </a:lnTo>
                <a:lnTo>
                  <a:pt x="5496517" y="2970409"/>
                </a:lnTo>
                <a:lnTo>
                  <a:pt x="5496517"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6" id="16"/>
          <p:cNvSpPr/>
          <p:nvPr/>
        </p:nvSpPr>
        <p:spPr>
          <a:xfrm flipH="false" flipV="false" rot="-2219639">
            <a:off x="2823991" y="3219767"/>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6777636" y="1354965"/>
            <a:ext cx="4192793" cy="1572796"/>
          </a:xfrm>
          <a:prstGeom prst="rect">
            <a:avLst/>
          </a:prstGeom>
        </p:spPr>
        <p:txBody>
          <a:bodyPr anchor="t" rtlCol="false" tIns="0" lIns="0" bIns="0" rIns="0">
            <a:spAutoFit/>
          </a:bodyPr>
          <a:lstStyle/>
          <a:p>
            <a:pPr algn="l">
              <a:lnSpc>
                <a:spcPts val="9714"/>
              </a:lnSpc>
            </a:pPr>
            <a:r>
              <a:rPr lang="en-US" sz="6939">
                <a:solidFill>
                  <a:srgbClr val="76ADFF"/>
                </a:solidFill>
                <a:latin typeface="Wedges"/>
                <a:ea typeface="Wedges"/>
                <a:cs typeface="Wedges"/>
                <a:sym typeface="Wedges"/>
              </a:rPr>
              <a:t>ANSWERS</a:t>
            </a:r>
          </a:p>
          <a:p>
            <a:pPr algn="l">
              <a:lnSpc>
                <a:spcPts val="2501"/>
              </a:lnSpc>
            </a:pPr>
          </a:p>
        </p:txBody>
      </p:sp>
      <p:sp>
        <p:nvSpPr>
          <p:cNvPr name="Freeform 18" id="18"/>
          <p:cNvSpPr/>
          <p:nvPr/>
        </p:nvSpPr>
        <p:spPr>
          <a:xfrm flipH="false" flipV="false" rot="-2219639">
            <a:off x="2823991" y="4549428"/>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9" id="19"/>
          <p:cNvSpPr txBox="true"/>
          <p:nvPr/>
        </p:nvSpPr>
        <p:spPr>
          <a:xfrm rot="0">
            <a:off x="3819526" y="4227257"/>
            <a:ext cx="12494381" cy="62230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Give IAM User Permission to Assume the Role</a:t>
            </a:r>
          </a:p>
        </p:txBody>
      </p:sp>
      <p:sp>
        <p:nvSpPr>
          <p:cNvPr name="Freeform 20" id="20"/>
          <p:cNvSpPr/>
          <p:nvPr/>
        </p:nvSpPr>
        <p:spPr>
          <a:xfrm flipH="false" flipV="false" rot="-2219639">
            <a:off x="2823991" y="6183470"/>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1" id="21"/>
          <p:cNvSpPr txBox="true"/>
          <p:nvPr/>
        </p:nvSpPr>
        <p:spPr>
          <a:xfrm rot="0">
            <a:off x="3648887" y="5382698"/>
            <a:ext cx="13196327" cy="1828848"/>
          </a:xfrm>
          <a:prstGeom prst="rect">
            <a:avLst/>
          </a:prstGeom>
        </p:spPr>
        <p:txBody>
          <a:bodyPr anchor="t" rtlCol="false" tIns="0" lIns="0" bIns="0" rIns="0">
            <a:spAutoFit/>
          </a:bodyPr>
          <a:lstStyle/>
          <a:p>
            <a:pPr algn="l">
              <a:lnSpc>
                <a:spcPts val="3296"/>
              </a:lnSpc>
            </a:pPr>
            <a:r>
              <a:rPr lang="en-US" sz="2354">
                <a:solidFill>
                  <a:srgbClr val="65503D"/>
                </a:solidFill>
                <a:latin typeface="Jella"/>
                <a:ea typeface="Jella"/>
                <a:cs typeface="Jella"/>
                <a:sym typeface="Jella"/>
              </a:rPr>
              <a:t> Check Session Duration:</a:t>
            </a:r>
          </a:p>
          <a:p>
            <a:pPr algn="l">
              <a:lnSpc>
                <a:spcPts val="3296"/>
              </a:lnSpc>
            </a:pPr>
            <a:r>
              <a:rPr lang="en-US" sz="2354">
                <a:solidFill>
                  <a:srgbClr val="65503D"/>
                </a:solidFill>
                <a:latin typeface="Jella"/>
                <a:ea typeface="Jella"/>
                <a:cs typeface="Jella"/>
                <a:sym typeface="Jella"/>
              </a:rPr>
              <a:t>IAM user maximum session duration is 1 hour unless explicitly allowed.</a:t>
            </a:r>
          </a:p>
          <a:p>
            <a:pPr algn="l">
              <a:lnSpc>
                <a:spcPts val="3296"/>
              </a:lnSpc>
            </a:pPr>
            <a:r>
              <a:rPr lang="en-US" sz="2354">
                <a:solidFill>
                  <a:srgbClr val="65503D"/>
                </a:solidFill>
                <a:latin typeface="Jella"/>
                <a:ea typeface="Jella"/>
                <a:cs typeface="Jella"/>
                <a:sym typeface="Jella"/>
              </a:rPr>
              <a:t>If role session duration &gt; allowed → failure.</a:t>
            </a:r>
          </a:p>
          <a:p>
            <a:pPr algn="l">
              <a:lnSpc>
                <a:spcPts val="3296"/>
              </a:lnSpc>
            </a:pPr>
          </a:p>
        </p:txBody>
      </p:sp>
      <p:sp>
        <p:nvSpPr>
          <p:cNvPr name="TextBox 22" id="22"/>
          <p:cNvSpPr txBox="true"/>
          <p:nvPr/>
        </p:nvSpPr>
        <p:spPr>
          <a:xfrm rot="0">
            <a:off x="3642898" y="2769011"/>
            <a:ext cx="12500370" cy="62230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The role’s trust policy MUST allow the IAM user or its account to assume it.</a:t>
            </a:r>
          </a:p>
        </p:txBody>
      </p:sp>
      <p:sp>
        <p:nvSpPr>
          <p:cNvPr name="TextBox 23" id="23"/>
          <p:cNvSpPr txBox="true"/>
          <p:nvPr/>
        </p:nvSpPr>
        <p:spPr>
          <a:xfrm rot="0">
            <a:off x="3648887" y="7949046"/>
            <a:ext cx="12145252" cy="106045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Review CloudTrail logs for any policy denial.</a:t>
            </a:r>
          </a:p>
          <a:p>
            <a:pPr algn="l">
              <a:lnSpc>
                <a:spcPts val="3499"/>
              </a:lnSpc>
            </a:pPr>
          </a:p>
        </p:txBody>
      </p:sp>
      <p:sp>
        <p:nvSpPr>
          <p:cNvPr name="Freeform 24" id="24"/>
          <p:cNvSpPr/>
          <p:nvPr/>
        </p:nvSpPr>
        <p:spPr>
          <a:xfrm flipH="false" flipV="false" rot="-2219639">
            <a:off x="2823991" y="8175056"/>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p:cSld>
    <p:bg>
      <p:bgPr>
        <a:solidFill>
          <a:srgbClr val="FFF9EF"/>
        </a:solidFill>
      </p:bgPr>
    </p:bg>
    <p:spTree>
      <p:nvGrpSpPr>
        <p:cNvPr id="1" name=""/>
        <p:cNvGrpSpPr/>
        <p:nvPr/>
      </p:nvGrpSpPr>
      <p:grpSpPr>
        <a:xfrm>
          <a:off x="0" y="0"/>
          <a:ext cx="0" cy="0"/>
          <a:chOff x="0" y="0"/>
          <a:chExt cx="0" cy="0"/>
        </a:xfrm>
      </p:grpSpPr>
      <p:sp>
        <p:nvSpPr>
          <p:cNvPr name="TextBox 2" id="2"/>
          <p:cNvSpPr txBox="true"/>
          <p:nvPr/>
        </p:nvSpPr>
        <p:spPr>
          <a:xfrm rot="0">
            <a:off x="5617685" y="876300"/>
            <a:ext cx="5890260" cy="1295400"/>
          </a:xfrm>
          <a:prstGeom prst="rect">
            <a:avLst/>
          </a:prstGeom>
        </p:spPr>
        <p:txBody>
          <a:bodyPr anchor="t" rtlCol="false" tIns="0" lIns="0" bIns="0" rIns="0">
            <a:spAutoFit/>
          </a:bodyPr>
          <a:lstStyle/>
          <a:p>
            <a:pPr algn="ctr">
              <a:lnSpc>
                <a:spcPts val="10500"/>
              </a:lnSpc>
              <a:spcBef>
                <a:spcPct val="0"/>
              </a:spcBef>
            </a:pPr>
            <a:r>
              <a:rPr lang="en-US" sz="7500">
                <a:solidFill>
                  <a:srgbClr val="76ADFF"/>
                </a:solidFill>
                <a:latin typeface="Wedges"/>
                <a:ea typeface="Wedges"/>
                <a:cs typeface="Wedges"/>
                <a:sym typeface="Wedges"/>
              </a:rPr>
              <a:t> QUESTION 8</a:t>
            </a:r>
          </a:p>
        </p:txBody>
      </p:sp>
      <p:sp>
        <p:nvSpPr>
          <p:cNvPr name="TextBox 3" id="3"/>
          <p:cNvSpPr txBox="true"/>
          <p:nvPr/>
        </p:nvSpPr>
        <p:spPr>
          <a:xfrm rot="0">
            <a:off x="804060" y="3511337"/>
            <a:ext cx="16650257" cy="2071160"/>
          </a:xfrm>
          <a:prstGeom prst="rect">
            <a:avLst/>
          </a:prstGeom>
        </p:spPr>
        <p:txBody>
          <a:bodyPr anchor="t" rtlCol="false" tIns="0" lIns="0" bIns="0" rIns="0">
            <a:spAutoFit/>
          </a:bodyPr>
          <a:lstStyle/>
          <a:p>
            <a:pPr algn="ctr">
              <a:lnSpc>
                <a:spcPts val="5541"/>
              </a:lnSpc>
            </a:pPr>
            <a:r>
              <a:rPr lang="en-US" sz="3958">
                <a:solidFill>
                  <a:srgbClr val="000000"/>
                </a:solidFill>
                <a:latin typeface="Muli"/>
                <a:ea typeface="Muli"/>
                <a:cs typeface="Muli"/>
                <a:sym typeface="Muli"/>
              </a:rPr>
              <a:t> </a:t>
            </a:r>
            <a:r>
              <a:rPr lang="en-US" sz="3958" b="true">
                <a:solidFill>
                  <a:srgbClr val="000000"/>
                </a:solidFill>
                <a:latin typeface="Muli Bold"/>
                <a:ea typeface="Muli Bold"/>
                <a:cs typeface="Muli Bold"/>
                <a:sym typeface="Muli Bold"/>
              </a:rPr>
              <a:t>RDS Instance Not Connecting </a:t>
            </a:r>
          </a:p>
          <a:p>
            <a:pPr algn="ctr">
              <a:lnSpc>
                <a:spcPts val="5541"/>
              </a:lnSpc>
            </a:pPr>
            <a:r>
              <a:rPr lang="en-US" sz="3958" b="true">
                <a:solidFill>
                  <a:srgbClr val="000000"/>
                </a:solidFill>
                <a:latin typeface="Muli Bold"/>
                <a:ea typeface="Muli Bold"/>
                <a:cs typeface="Muli Bold"/>
                <a:sym typeface="Muli Bold"/>
              </a:rPr>
              <a:t> How do you resolve it?</a:t>
            </a:r>
          </a:p>
          <a:p>
            <a:pPr algn="ctr">
              <a:lnSpc>
                <a:spcPts val="5541"/>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644F3D"/>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05720" y="1170762"/>
            <a:ext cx="15876560" cy="7945476"/>
            <a:chOff x="0" y="0"/>
            <a:chExt cx="4181481" cy="2092636"/>
          </a:xfrm>
        </p:grpSpPr>
        <p:sp>
          <p:nvSpPr>
            <p:cNvPr name="Freeform 7" id="7" descr="ANSWER"/>
            <p:cNvSpPr/>
            <p:nvPr/>
          </p:nvSpPr>
          <p:spPr>
            <a:xfrm flipH="false" flipV="false" rot="0">
              <a:off x="0" y="0"/>
              <a:ext cx="4181481" cy="2092636"/>
            </a:xfrm>
            <a:custGeom>
              <a:avLst/>
              <a:gdLst/>
              <a:ahLst/>
              <a:cxnLst/>
              <a:rect r="r" b="b" t="t" l="l"/>
              <a:pathLst>
                <a:path h="2092636" w="4181481">
                  <a:moveTo>
                    <a:pt x="0" y="0"/>
                  </a:moveTo>
                  <a:lnTo>
                    <a:pt x="4181481" y="0"/>
                  </a:lnTo>
                  <a:lnTo>
                    <a:pt x="4181481" y="2092636"/>
                  </a:lnTo>
                  <a:lnTo>
                    <a:pt x="0" y="2092636"/>
                  </a:lnTo>
                  <a:close/>
                </a:path>
              </a:pathLst>
            </a:custGeom>
            <a:solidFill>
              <a:srgbClr val="FFFFFF"/>
            </a:solidFill>
            <a:ln w="38100" cap="sq">
              <a:solidFill>
                <a:srgbClr val="C1CE9A"/>
              </a:solidFill>
              <a:prstDash val="lgDash"/>
              <a:miter/>
            </a:ln>
          </p:spPr>
        </p:sp>
        <p:sp>
          <p:nvSpPr>
            <p:cNvPr name="TextBox 8" id="8"/>
            <p:cNvSpPr txBox="true"/>
            <p:nvPr/>
          </p:nvSpPr>
          <p:spPr>
            <a:xfrm>
              <a:off x="0" y="-38100"/>
              <a:ext cx="4181481" cy="213073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false" rot="0">
            <a:off x="16143268" y="-3984217"/>
            <a:ext cx="10801253" cy="5756168"/>
          </a:xfrm>
          <a:custGeom>
            <a:avLst/>
            <a:gdLst/>
            <a:ahLst/>
            <a:cxnLst/>
            <a:rect r="r" b="b" t="t" l="l"/>
            <a:pathLst>
              <a:path h="5756168" w="10801253">
                <a:moveTo>
                  <a:pt x="10801252" y="0"/>
                </a:moveTo>
                <a:lnTo>
                  <a:pt x="0" y="0"/>
                </a:lnTo>
                <a:lnTo>
                  <a:pt x="0" y="5756167"/>
                </a:lnTo>
                <a:lnTo>
                  <a:pt x="10801252" y="5756167"/>
                </a:lnTo>
                <a:lnTo>
                  <a:pt x="1080125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false" rot="0">
            <a:off x="292166" y="1438055"/>
            <a:ext cx="1312631" cy="837697"/>
          </a:xfrm>
          <a:custGeom>
            <a:avLst/>
            <a:gdLst/>
            <a:ahLst/>
            <a:cxnLst/>
            <a:rect r="r" b="b" t="t" l="l"/>
            <a:pathLst>
              <a:path h="837697" w="1312631">
                <a:moveTo>
                  <a:pt x="1312631" y="0"/>
                </a:moveTo>
                <a:lnTo>
                  <a:pt x="0" y="0"/>
                </a:lnTo>
                <a:lnTo>
                  <a:pt x="0" y="837697"/>
                </a:lnTo>
                <a:lnTo>
                  <a:pt x="1312631" y="837697"/>
                </a:lnTo>
                <a:lnTo>
                  <a:pt x="1312631"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1" id="11"/>
          <p:cNvSpPr/>
          <p:nvPr/>
        </p:nvSpPr>
        <p:spPr>
          <a:xfrm flipH="false" flipV="false" rot="0">
            <a:off x="1604797" y="308481"/>
            <a:ext cx="1581824" cy="1009491"/>
          </a:xfrm>
          <a:custGeom>
            <a:avLst/>
            <a:gdLst/>
            <a:ahLst/>
            <a:cxnLst/>
            <a:rect r="r" b="b" t="t" l="l"/>
            <a:pathLst>
              <a:path h="1009491" w="1581824">
                <a:moveTo>
                  <a:pt x="0" y="0"/>
                </a:moveTo>
                <a:lnTo>
                  <a:pt x="1581824" y="0"/>
                </a:lnTo>
                <a:lnTo>
                  <a:pt x="1581824" y="1009491"/>
                </a:lnTo>
                <a:lnTo>
                  <a:pt x="0" y="10094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2" id="12"/>
          <p:cNvSpPr/>
          <p:nvPr/>
        </p:nvSpPr>
        <p:spPr>
          <a:xfrm flipH="false" flipV="false" rot="0">
            <a:off x="16143268" y="7552514"/>
            <a:ext cx="1793964" cy="1144875"/>
          </a:xfrm>
          <a:custGeom>
            <a:avLst/>
            <a:gdLst/>
            <a:ahLst/>
            <a:cxnLst/>
            <a:rect r="r" b="b" t="t" l="l"/>
            <a:pathLst>
              <a:path h="1144875" w="1793964">
                <a:moveTo>
                  <a:pt x="0" y="0"/>
                </a:moveTo>
                <a:lnTo>
                  <a:pt x="1793964" y="0"/>
                </a:lnTo>
                <a:lnTo>
                  <a:pt x="1793964" y="1144875"/>
                </a:lnTo>
                <a:lnTo>
                  <a:pt x="0" y="11448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3" id="13"/>
          <p:cNvSpPr/>
          <p:nvPr/>
        </p:nvSpPr>
        <p:spPr>
          <a:xfrm flipH="false" flipV="false" rot="0">
            <a:off x="-8656520" y="-3984217"/>
            <a:ext cx="10801253" cy="5756168"/>
          </a:xfrm>
          <a:custGeom>
            <a:avLst/>
            <a:gdLst/>
            <a:ahLst/>
            <a:cxnLst/>
            <a:rect r="r" b="b" t="t" l="l"/>
            <a:pathLst>
              <a:path h="5756168" w="10801253">
                <a:moveTo>
                  <a:pt x="0" y="0"/>
                </a:moveTo>
                <a:lnTo>
                  <a:pt x="10801252" y="0"/>
                </a:lnTo>
                <a:lnTo>
                  <a:pt x="10801252" y="5756167"/>
                </a:lnTo>
                <a:lnTo>
                  <a:pt x="0" y="5756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469220" y="7641371"/>
            <a:ext cx="5496517" cy="2970409"/>
          </a:xfrm>
          <a:custGeom>
            <a:avLst/>
            <a:gdLst/>
            <a:ahLst/>
            <a:cxnLst/>
            <a:rect r="r" b="b" t="t" l="l"/>
            <a:pathLst>
              <a:path h="2970409" w="5496517">
                <a:moveTo>
                  <a:pt x="0" y="0"/>
                </a:moveTo>
                <a:lnTo>
                  <a:pt x="5496517" y="0"/>
                </a:lnTo>
                <a:lnTo>
                  <a:pt x="5496517" y="2970409"/>
                </a:lnTo>
                <a:lnTo>
                  <a:pt x="0" y="29704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true" flipV="false" rot="0">
            <a:off x="15260703" y="7641371"/>
            <a:ext cx="5496517" cy="2970409"/>
          </a:xfrm>
          <a:custGeom>
            <a:avLst/>
            <a:gdLst/>
            <a:ahLst/>
            <a:cxnLst/>
            <a:rect r="r" b="b" t="t" l="l"/>
            <a:pathLst>
              <a:path h="2970409" w="5496517">
                <a:moveTo>
                  <a:pt x="5496517" y="0"/>
                </a:moveTo>
                <a:lnTo>
                  <a:pt x="0" y="0"/>
                </a:lnTo>
                <a:lnTo>
                  <a:pt x="0" y="2970409"/>
                </a:lnTo>
                <a:lnTo>
                  <a:pt x="5496517" y="2970409"/>
                </a:lnTo>
                <a:lnTo>
                  <a:pt x="5496517"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6" id="16"/>
          <p:cNvSpPr/>
          <p:nvPr/>
        </p:nvSpPr>
        <p:spPr>
          <a:xfrm flipH="false" flipV="false" rot="-2219639">
            <a:off x="2823991" y="3219767"/>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6777636" y="1354965"/>
            <a:ext cx="4192793" cy="1572796"/>
          </a:xfrm>
          <a:prstGeom prst="rect">
            <a:avLst/>
          </a:prstGeom>
        </p:spPr>
        <p:txBody>
          <a:bodyPr anchor="t" rtlCol="false" tIns="0" lIns="0" bIns="0" rIns="0">
            <a:spAutoFit/>
          </a:bodyPr>
          <a:lstStyle/>
          <a:p>
            <a:pPr algn="l">
              <a:lnSpc>
                <a:spcPts val="9714"/>
              </a:lnSpc>
            </a:pPr>
            <a:r>
              <a:rPr lang="en-US" sz="6939">
                <a:solidFill>
                  <a:srgbClr val="76ADFF"/>
                </a:solidFill>
                <a:latin typeface="Wedges"/>
                <a:ea typeface="Wedges"/>
                <a:cs typeface="Wedges"/>
                <a:sym typeface="Wedges"/>
              </a:rPr>
              <a:t>ANSWERS</a:t>
            </a:r>
          </a:p>
          <a:p>
            <a:pPr algn="l">
              <a:lnSpc>
                <a:spcPts val="2501"/>
              </a:lnSpc>
            </a:pPr>
          </a:p>
        </p:txBody>
      </p:sp>
      <p:sp>
        <p:nvSpPr>
          <p:cNvPr name="Freeform 18" id="18"/>
          <p:cNvSpPr/>
          <p:nvPr/>
        </p:nvSpPr>
        <p:spPr>
          <a:xfrm flipH="false" flipV="false" rot="-2219639">
            <a:off x="2823991" y="4549428"/>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9" id="19"/>
          <p:cNvSpPr txBox="true"/>
          <p:nvPr/>
        </p:nvSpPr>
        <p:spPr>
          <a:xfrm rot="0">
            <a:off x="3819526" y="4227257"/>
            <a:ext cx="12494381" cy="149860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Check security groups and allow inbound traffic on the correct port (e.g., </a:t>
            </a:r>
          </a:p>
          <a:p>
            <a:pPr algn="l">
              <a:lnSpc>
                <a:spcPts val="3499"/>
              </a:lnSpc>
            </a:pPr>
            <a:r>
              <a:rPr lang="en-US" sz="2499">
                <a:solidFill>
                  <a:srgbClr val="65503D"/>
                </a:solidFill>
                <a:latin typeface="Jella"/>
                <a:ea typeface="Jella"/>
                <a:cs typeface="Jella"/>
                <a:sym typeface="Jella"/>
              </a:rPr>
              <a:t>3306 for MySQL, 5432 for PostgreSQL).</a:t>
            </a:r>
          </a:p>
          <a:p>
            <a:pPr algn="l">
              <a:lnSpc>
                <a:spcPts val="3499"/>
              </a:lnSpc>
            </a:pPr>
          </a:p>
        </p:txBody>
      </p:sp>
      <p:sp>
        <p:nvSpPr>
          <p:cNvPr name="Freeform 20" id="20"/>
          <p:cNvSpPr/>
          <p:nvPr/>
        </p:nvSpPr>
        <p:spPr>
          <a:xfrm flipH="false" flipV="false" rot="-2219639">
            <a:off x="2823991" y="6183470"/>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1" id="21"/>
          <p:cNvSpPr txBox="true"/>
          <p:nvPr/>
        </p:nvSpPr>
        <p:spPr>
          <a:xfrm rot="0">
            <a:off x="3819526" y="5773956"/>
            <a:ext cx="13196327" cy="1003586"/>
          </a:xfrm>
          <a:prstGeom prst="rect">
            <a:avLst/>
          </a:prstGeom>
        </p:spPr>
        <p:txBody>
          <a:bodyPr anchor="t" rtlCol="false" tIns="0" lIns="0" bIns="0" rIns="0">
            <a:spAutoFit/>
          </a:bodyPr>
          <a:lstStyle/>
          <a:p>
            <a:pPr algn="l">
              <a:lnSpc>
                <a:spcPts val="3296"/>
              </a:lnSpc>
            </a:pPr>
            <a:r>
              <a:rPr lang="en-US" sz="2354">
                <a:solidFill>
                  <a:srgbClr val="65503D"/>
                </a:solidFill>
                <a:latin typeface="Jella"/>
                <a:ea typeface="Jella"/>
                <a:cs typeface="Jella"/>
                <a:sym typeface="Jella"/>
              </a:rPr>
              <a:t>Ensure the database credentials are correct.</a:t>
            </a:r>
          </a:p>
          <a:p>
            <a:pPr algn="l">
              <a:lnSpc>
                <a:spcPts val="3296"/>
              </a:lnSpc>
            </a:pPr>
          </a:p>
        </p:txBody>
      </p:sp>
      <p:sp>
        <p:nvSpPr>
          <p:cNvPr name="TextBox 22" id="22"/>
          <p:cNvSpPr txBox="true"/>
          <p:nvPr/>
        </p:nvSpPr>
        <p:spPr>
          <a:xfrm rot="0">
            <a:off x="3642898" y="2769011"/>
            <a:ext cx="12500370" cy="106045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Verify that the RDS instance is in the "available" state (RDS → Instances).</a:t>
            </a:r>
          </a:p>
          <a:p>
            <a:pPr algn="l">
              <a:lnSpc>
                <a:spcPts val="3499"/>
              </a:lnSpc>
            </a:pPr>
          </a:p>
        </p:txBody>
      </p:sp>
      <p:sp>
        <p:nvSpPr>
          <p:cNvPr name="TextBox 23" id="23"/>
          <p:cNvSpPr txBox="true"/>
          <p:nvPr/>
        </p:nvSpPr>
        <p:spPr>
          <a:xfrm rot="0">
            <a:off x="3819526" y="6833069"/>
            <a:ext cx="12145252" cy="149860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Verify that the database's parameter group and subnet group are </a:t>
            </a:r>
          </a:p>
          <a:p>
            <a:pPr algn="l">
              <a:lnSpc>
                <a:spcPts val="3499"/>
              </a:lnSpc>
            </a:pPr>
            <a:r>
              <a:rPr lang="en-US" sz="2499">
                <a:solidFill>
                  <a:srgbClr val="65503D"/>
                </a:solidFill>
                <a:latin typeface="Jella"/>
                <a:ea typeface="Jella"/>
                <a:cs typeface="Jella"/>
                <a:sym typeface="Jella"/>
              </a:rPr>
              <a:t>properly configured.</a:t>
            </a:r>
          </a:p>
          <a:p>
            <a:pPr algn="l">
              <a:lnSpc>
                <a:spcPts val="3499"/>
              </a:lnSpc>
            </a:pPr>
          </a:p>
        </p:txBody>
      </p:sp>
      <p:sp>
        <p:nvSpPr>
          <p:cNvPr name="Freeform 24" id="24"/>
          <p:cNvSpPr/>
          <p:nvPr/>
        </p:nvSpPr>
        <p:spPr>
          <a:xfrm flipH="false" flipV="false" rot="-2219639">
            <a:off x="2870884" y="7278154"/>
            <a:ext cx="725260" cy="417931"/>
          </a:xfrm>
          <a:custGeom>
            <a:avLst/>
            <a:gdLst/>
            <a:ahLst/>
            <a:cxnLst/>
            <a:rect r="r" b="b" t="t" l="l"/>
            <a:pathLst>
              <a:path h="417931" w="725260">
                <a:moveTo>
                  <a:pt x="0" y="0"/>
                </a:moveTo>
                <a:lnTo>
                  <a:pt x="725259" y="0"/>
                </a:lnTo>
                <a:lnTo>
                  <a:pt x="725259" y="417930"/>
                </a:lnTo>
                <a:lnTo>
                  <a:pt x="0" y="41793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p:cSld>
    <p:bg>
      <p:bgPr>
        <a:solidFill>
          <a:srgbClr val="FFF9EF"/>
        </a:solidFill>
      </p:bgPr>
    </p:bg>
    <p:spTree>
      <p:nvGrpSpPr>
        <p:cNvPr id="1" name=""/>
        <p:cNvGrpSpPr/>
        <p:nvPr/>
      </p:nvGrpSpPr>
      <p:grpSpPr>
        <a:xfrm>
          <a:off x="0" y="0"/>
          <a:ext cx="0" cy="0"/>
          <a:chOff x="0" y="0"/>
          <a:chExt cx="0" cy="0"/>
        </a:xfrm>
      </p:grpSpPr>
      <p:sp>
        <p:nvSpPr>
          <p:cNvPr name="TextBox 2" id="2"/>
          <p:cNvSpPr txBox="true"/>
          <p:nvPr/>
        </p:nvSpPr>
        <p:spPr>
          <a:xfrm rot="0">
            <a:off x="5594825" y="876300"/>
            <a:ext cx="5935980" cy="1295400"/>
          </a:xfrm>
          <a:prstGeom prst="rect">
            <a:avLst/>
          </a:prstGeom>
        </p:spPr>
        <p:txBody>
          <a:bodyPr anchor="t" rtlCol="false" tIns="0" lIns="0" bIns="0" rIns="0">
            <a:spAutoFit/>
          </a:bodyPr>
          <a:lstStyle/>
          <a:p>
            <a:pPr algn="ctr">
              <a:lnSpc>
                <a:spcPts val="10500"/>
              </a:lnSpc>
              <a:spcBef>
                <a:spcPct val="0"/>
              </a:spcBef>
            </a:pPr>
            <a:r>
              <a:rPr lang="en-US" sz="7500">
                <a:solidFill>
                  <a:srgbClr val="76ADFF"/>
                </a:solidFill>
                <a:latin typeface="Wedges"/>
                <a:ea typeface="Wedges"/>
                <a:cs typeface="Wedges"/>
                <a:sym typeface="Wedges"/>
              </a:rPr>
              <a:t> QUESTION 9</a:t>
            </a:r>
          </a:p>
        </p:txBody>
      </p:sp>
      <p:sp>
        <p:nvSpPr>
          <p:cNvPr name="TextBox 3" id="3"/>
          <p:cNvSpPr txBox="true"/>
          <p:nvPr/>
        </p:nvSpPr>
        <p:spPr>
          <a:xfrm rot="0">
            <a:off x="804060" y="3511337"/>
            <a:ext cx="16650257" cy="1375835"/>
          </a:xfrm>
          <a:prstGeom prst="rect">
            <a:avLst/>
          </a:prstGeom>
        </p:spPr>
        <p:txBody>
          <a:bodyPr anchor="t" rtlCol="false" tIns="0" lIns="0" bIns="0" rIns="0">
            <a:spAutoFit/>
          </a:bodyPr>
          <a:lstStyle/>
          <a:p>
            <a:pPr algn="ctr">
              <a:lnSpc>
                <a:spcPts val="5541"/>
              </a:lnSpc>
            </a:pPr>
            <a:r>
              <a:rPr lang="en-US" sz="3958">
                <a:solidFill>
                  <a:srgbClr val="000000"/>
                </a:solidFill>
                <a:latin typeface="Muli"/>
                <a:ea typeface="Muli"/>
                <a:cs typeface="Muli"/>
                <a:sym typeface="Muli"/>
              </a:rPr>
              <a:t> </a:t>
            </a:r>
            <a:r>
              <a:rPr lang="en-US" sz="3958" b="true">
                <a:solidFill>
                  <a:srgbClr val="000000"/>
                </a:solidFill>
                <a:latin typeface="Muli Bold"/>
                <a:ea typeface="Muli Bold"/>
                <a:cs typeface="Muli Bold"/>
                <a:sym typeface="Muli Bold"/>
              </a:rPr>
              <a:t>What is Autoscalling?can you explain autoscalling briefly</a:t>
            </a:r>
          </a:p>
          <a:p>
            <a:pPr algn="ctr">
              <a:lnSpc>
                <a:spcPts val="5541"/>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644F3D"/>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05720" y="1170762"/>
            <a:ext cx="15876560" cy="7945476"/>
            <a:chOff x="0" y="0"/>
            <a:chExt cx="4181481" cy="2092636"/>
          </a:xfrm>
        </p:grpSpPr>
        <p:sp>
          <p:nvSpPr>
            <p:cNvPr name="Freeform 7" id="7" descr="ANSWER"/>
            <p:cNvSpPr/>
            <p:nvPr/>
          </p:nvSpPr>
          <p:spPr>
            <a:xfrm flipH="false" flipV="false" rot="0">
              <a:off x="0" y="0"/>
              <a:ext cx="4181481" cy="2092636"/>
            </a:xfrm>
            <a:custGeom>
              <a:avLst/>
              <a:gdLst/>
              <a:ahLst/>
              <a:cxnLst/>
              <a:rect r="r" b="b" t="t" l="l"/>
              <a:pathLst>
                <a:path h="2092636" w="4181481">
                  <a:moveTo>
                    <a:pt x="0" y="0"/>
                  </a:moveTo>
                  <a:lnTo>
                    <a:pt x="4181481" y="0"/>
                  </a:lnTo>
                  <a:lnTo>
                    <a:pt x="4181481" y="2092636"/>
                  </a:lnTo>
                  <a:lnTo>
                    <a:pt x="0" y="2092636"/>
                  </a:lnTo>
                  <a:close/>
                </a:path>
              </a:pathLst>
            </a:custGeom>
            <a:solidFill>
              <a:srgbClr val="FFFFFF"/>
            </a:solidFill>
            <a:ln w="38100" cap="sq">
              <a:solidFill>
                <a:srgbClr val="C1CE9A"/>
              </a:solidFill>
              <a:prstDash val="lgDash"/>
              <a:miter/>
            </a:ln>
          </p:spPr>
        </p:sp>
        <p:sp>
          <p:nvSpPr>
            <p:cNvPr name="TextBox 8" id="8"/>
            <p:cNvSpPr txBox="true"/>
            <p:nvPr/>
          </p:nvSpPr>
          <p:spPr>
            <a:xfrm>
              <a:off x="0" y="-38100"/>
              <a:ext cx="4181481" cy="213073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false" rot="0">
            <a:off x="16143268" y="-3984217"/>
            <a:ext cx="10801253" cy="5756168"/>
          </a:xfrm>
          <a:custGeom>
            <a:avLst/>
            <a:gdLst/>
            <a:ahLst/>
            <a:cxnLst/>
            <a:rect r="r" b="b" t="t" l="l"/>
            <a:pathLst>
              <a:path h="5756168" w="10801253">
                <a:moveTo>
                  <a:pt x="10801252" y="0"/>
                </a:moveTo>
                <a:lnTo>
                  <a:pt x="0" y="0"/>
                </a:lnTo>
                <a:lnTo>
                  <a:pt x="0" y="5756167"/>
                </a:lnTo>
                <a:lnTo>
                  <a:pt x="10801252" y="5756167"/>
                </a:lnTo>
                <a:lnTo>
                  <a:pt x="1080125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false" rot="0">
            <a:off x="292166" y="1438055"/>
            <a:ext cx="1312631" cy="837697"/>
          </a:xfrm>
          <a:custGeom>
            <a:avLst/>
            <a:gdLst/>
            <a:ahLst/>
            <a:cxnLst/>
            <a:rect r="r" b="b" t="t" l="l"/>
            <a:pathLst>
              <a:path h="837697" w="1312631">
                <a:moveTo>
                  <a:pt x="1312631" y="0"/>
                </a:moveTo>
                <a:lnTo>
                  <a:pt x="0" y="0"/>
                </a:lnTo>
                <a:lnTo>
                  <a:pt x="0" y="837697"/>
                </a:lnTo>
                <a:lnTo>
                  <a:pt x="1312631" y="837697"/>
                </a:lnTo>
                <a:lnTo>
                  <a:pt x="1312631"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1" id="11"/>
          <p:cNvSpPr/>
          <p:nvPr/>
        </p:nvSpPr>
        <p:spPr>
          <a:xfrm flipH="false" flipV="false" rot="0">
            <a:off x="1604797" y="308481"/>
            <a:ext cx="1581824" cy="1009491"/>
          </a:xfrm>
          <a:custGeom>
            <a:avLst/>
            <a:gdLst/>
            <a:ahLst/>
            <a:cxnLst/>
            <a:rect r="r" b="b" t="t" l="l"/>
            <a:pathLst>
              <a:path h="1009491" w="1581824">
                <a:moveTo>
                  <a:pt x="0" y="0"/>
                </a:moveTo>
                <a:lnTo>
                  <a:pt x="1581824" y="0"/>
                </a:lnTo>
                <a:lnTo>
                  <a:pt x="1581824" y="1009491"/>
                </a:lnTo>
                <a:lnTo>
                  <a:pt x="0" y="10094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2" id="12"/>
          <p:cNvSpPr/>
          <p:nvPr/>
        </p:nvSpPr>
        <p:spPr>
          <a:xfrm flipH="false" flipV="false" rot="0">
            <a:off x="16143268" y="7552514"/>
            <a:ext cx="1793964" cy="1144875"/>
          </a:xfrm>
          <a:custGeom>
            <a:avLst/>
            <a:gdLst/>
            <a:ahLst/>
            <a:cxnLst/>
            <a:rect r="r" b="b" t="t" l="l"/>
            <a:pathLst>
              <a:path h="1144875" w="1793964">
                <a:moveTo>
                  <a:pt x="0" y="0"/>
                </a:moveTo>
                <a:lnTo>
                  <a:pt x="1793964" y="0"/>
                </a:lnTo>
                <a:lnTo>
                  <a:pt x="1793964" y="1144875"/>
                </a:lnTo>
                <a:lnTo>
                  <a:pt x="0" y="11448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3" id="13"/>
          <p:cNvSpPr/>
          <p:nvPr/>
        </p:nvSpPr>
        <p:spPr>
          <a:xfrm flipH="false" flipV="false" rot="0">
            <a:off x="-8656520" y="-3984217"/>
            <a:ext cx="10801253" cy="5756168"/>
          </a:xfrm>
          <a:custGeom>
            <a:avLst/>
            <a:gdLst/>
            <a:ahLst/>
            <a:cxnLst/>
            <a:rect r="r" b="b" t="t" l="l"/>
            <a:pathLst>
              <a:path h="5756168" w="10801253">
                <a:moveTo>
                  <a:pt x="0" y="0"/>
                </a:moveTo>
                <a:lnTo>
                  <a:pt x="10801252" y="0"/>
                </a:lnTo>
                <a:lnTo>
                  <a:pt x="10801252" y="5756167"/>
                </a:lnTo>
                <a:lnTo>
                  <a:pt x="0" y="5756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469220" y="7641371"/>
            <a:ext cx="5496517" cy="2970409"/>
          </a:xfrm>
          <a:custGeom>
            <a:avLst/>
            <a:gdLst/>
            <a:ahLst/>
            <a:cxnLst/>
            <a:rect r="r" b="b" t="t" l="l"/>
            <a:pathLst>
              <a:path h="2970409" w="5496517">
                <a:moveTo>
                  <a:pt x="0" y="0"/>
                </a:moveTo>
                <a:lnTo>
                  <a:pt x="5496517" y="0"/>
                </a:lnTo>
                <a:lnTo>
                  <a:pt x="5496517" y="2970409"/>
                </a:lnTo>
                <a:lnTo>
                  <a:pt x="0" y="29704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true" flipV="false" rot="0">
            <a:off x="15260703" y="7641371"/>
            <a:ext cx="5496517" cy="2970409"/>
          </a:xfrm>
          <a:custGeom>
            <a:avLst/>
            <a:gdLst/>
            <a:ahLst/>
            <a:cxnLst/>
            <a:rect r="r" b="b" t="t" l="l"/>
            <a:pathLst>
              <a:path h="2970409" w="5496517">
                <a:moveTo>
                  <a:pt x="5496517" y="0"/>
                </a:moveTo>
                <a:lnTo>
                  <a:pt x="0" y="0"/>
                </a:lnTo>
                <a:lnTo>
                  <a:pt x="0" y="2970409"/>
                </a:lnTo>
                <a:lnTo>
                  <a:pt x="5496517" y="2970409"/>
                </a:lnTo>
                <a:lnTo>
                  <a:pt x="5496517"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6" id="16"/>
          <p:cNvSpPr/>
          <p:nvPr/>
        </p:nvSpPr>
        <p:spPr>
          <a:xfrm flipH="false" flipV="false" rot="-2219639">
            <a:off x="2823991" y="3219767"/>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6777636" y="1354965"/>
            <a:ext cx="4192793" cy="1572796"/>
          </a:xfrm>
          <a:prstGeom prst="rect">
            <a:avLst/>
          </a:prstGeom>
        </p:spPr>
        <p:txBody>
          <a:bodyPr anchor="t" rtlCol="false" tIns="0" lIns="0" bIns="0" rIns="0">
            <a:spAutoFit/>
          </a:bodyPr>
          <a:lstStyle/>
          <a:p>
            <a:pPr algn="l">
              <a:lnSpc>
                <a:spcPts val="9714"/>
              </a:lnSpc>
            </a:pPr>
            <a:r>
              <a:rPr lang="en-US" sz="6939">
                <a:solidFill>
                  <a:srgbClr val="76ADFF"/>
                </a:solidFill>
                <a:latin typeface="Wedges"/>
                <a:ea typeface="Wedges"/>
                <a:cs typeface="Wedges"/>
                <a:sym typeface="Wedges"/>
              </a:rPr>
              <a:t>ANSWERS</a:t>
            </a:r>
          </a:p>
          <a:p>
            <a:pPr algn="l">
              <a:lnSpc>
                <a:spcPts val="2501"/>
              </a:lnSpc>
            </a:pPr>
          </a:p>
        </p:txBody>
      </p:sp>
      <p:sp>
        <p:nvSpPr>
          <p:cNvPr name="Freeform 18" id="18"/>
          <p:cNvSpPr/>
          <p:nvPr/>
        </p:nvSpPr>
        <p:spPr>
          <a:xfrm flipH="false" flipV="false" rot="-2219639">
            <a:off x="2870884" y="4369204"/>
            <a:ext cx="725260" cy="417931"/>
          </a:xfrm>
          <a:custGeom>
            <a:avLst/>
            <a:gdLst/>
            <a:ahLst/>
            <a:cxnLst/>
            <a:rect r="r" b="b" t="t" l="l"/>
            <a:pathLst>
              <a:path h="417931" w="725260">
                <a:moveTo>
                  <a:pt x="0" y="0"/>
                </a:moveTo>
                <a:lnTo>
                  <a:pt x="725259" y="0"/>
                </a:lnTo>
                <a:lnTo>
                  <a:pt x="725259" y="417930"/>
                </a:lnTo>
                <a:lnTo>
                  <a:pt x="0" y="41793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2219639">
            <a:off x="2823991" y="5319641"/>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0" id="20"/>
          <p:cNvSpPr txBox="true"/>
          <p:nvPr/>
        </p:nvSpPr>
        <p:spPr>
          <a:xfrm rot="0">
            <a:off x="3648887" y="5030001"/>
            <a:ext cx="13196327" cy="1003586"/>
          </a:xfrm>
          <a:prstGeom prst="rect">
            <a:avLst/>
          </a:prstGeom>
        </p:spPr>
        <p:txBody>
          <a:bodyPr anchor="t" rtlCol="false" tIns="0" lIns="0" bIns="0" rIns="0">
            <a:spAutoFit/>
          </a:bodyPr>
          <a:lstStyle/>
          <a:p>
            <a:pPr algn="l">
              <a:lnSpc>
                <a:spcPts val="3296"/>
              </a:lnSpc>
            </a:pPr>
            <a:r>
              <a:rPr lang="en-US" sz="2354">
                <a:solidFill>
                  <a:srgbClr val="65503D"/>
                </a:solidFill>
                <a:latin typeface="Jella"/>
                <a:ea typeface="Jella"/>
                <a:cs typeface="Jella"/>
                <a:sym typeface="Jella"/>
              </a:rPr>
              <a:t> </a:t>
            </a:r>
            <a:r>
              <a:rPr lang="en-US" sz="2354" b="true">
                <a:solidFill>
                  <a:srgbClr val="65503D"/>
                </a:solidFill>
                <a:latin typeface="Jella Bold"/>
                <a:ea typeface="Jella Bold"/>
                <a:cs typeface="Jella Bold"/>
                <a:sym typeface="Jella Bold"/>
              </a:rPr>
              <a:t>Scale-IN: Reducing the instances. Scale-IN: Reducing the instances.</a:t>
            </a:r>
          </a:p>
          <a:p>
            <a:pPr algn="l">
              <a:lnSpc>
                <a:spcPts val="3296"/>
              </a:lnSpc>
            </a:pPr>
          </a:p>
        </p:txBody>
      </p:sp>
      <p:sp>
        <p:nvSpPr>
          <p:cNvPr name="TextBox 21" id="21"/>
          <p:cNvSpPr txBox="true"/>
          <p:nvPr/>
        </p:nvSpPr>
        <p:spPr>
          <a:xfrm rot="0">
            <a:off x="3642898" y="2769011"/>
            <a:ext cx="12500370" cy="1498600"/>
          </a:xfrm>
          <a:prstGeom prst="rect">
            <a:avLst/>
          </a:prstGeom>
        </p:spPr>
        <p:txBody>
          <a:bodyPr anchor="t" rtlCol="false" tIns="0" lIns="0" bIns="0" rIns="0">
            <a:spAutoFit/>
          </a:bodyPr>
          <a:lstStyle/>
          <a:p>
            <a:pPr algn="l">
              <a:lnSpc>
                <a:spcPts val="3499"/>
              </a:lnSpc>
            </a:pPr>
            <a:r>
              <a:rPr lang="en-US" sz="2499">
                <a:solidFill>
                  <a:srgbClr val="65503D"/>
                </a:solidFill>
                <a:latin typeface="Jella"/>
                <a:ea typeface="Jella"/>
                <a:cs typeface="Jella"/>
                <a:sym typeface="Jella"/>
              </a:rPr>
              <a:t> </a:t>
            </a:r>
            <a:r>
              <a:rPr lang="en-US" sz="2499" b="true">
                <a:solidFill>
                  <a:srgbClr val="65503D"/>
                </a:solidFill>
                <a:latin typeface="Jella Bold"/>
                <a:ea typeface="Jella Bold"/>
                <a:cs typeface="Jella Bold"/>
                <a:sym typeface="Jella Bold"/>
              </a:rPr>
              <a:t>Creating duplicate instances during heavy business hours is called Autoscalling.</a:t>
            </a:r>
          </a:p>
          <a:p>
            <a:pPr algn="l">
              <a:lnSpc>
                <a:spcPts val="3499"/>
              </a:lnSpc>
            </a:pPr>
          </a:p>
        </p:txBody>
      </p:sp>
      <p:sp>
        <p:nvSpPr>
          <p:cNvPr name="Freeform 22" id="22"/>
          <p:cNvSpPr/>
          <p:nvPr/>
        </p:nvSpPr>
        <p:spPr>
          <a:xfrm flipH="false" flipV="false" rot="-2219639">
            <a:off x="2870884" y="6958442"/>
            <a:ext cx="725260" cy="417931"/>
          </a:xfrm>
          <a:custGeom>
            <a:avLst/>
            <a:gdLst/>
            <a:ahLst/>
            <a:cxnLst/>
            <a:rect r="r" b="b" t="t" l="l"/>
            <a:pathLst>
              <a:path h="417931" w="725260">
                <a:moveTo>
                  <a:pt x="0" y="0"/>
                </a:moveTo>
                <a:lnTo>
                  <a:pt x="725259" y="0"/>
                </a:lnTo>
                <a:lnTo>
                  <a:pt x="725259"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3648887" y="3953641"/>
            <a:ext cx="12500370" cy="1060450"/>
          </a:xfrm>
          <a:prstGeom prst="rect">
            <a:avLst/>
          </a:prstGeom>
        </p:spPr>
        <p:txBody>
          <a:bodyPr anchor="t" rtlCol="false" tIns="0" lIns="0" bIns="0" rIns="0">
            <a:spAutoFit/>
          </a:bodyPr>
          <a:lstStyle/>
          <a:p>
            <a:pPr algn="l">
              <a:lnSpc>
                <a:spcPts val="3499"/>
              </a:lnSpc>
            </a:pPr>
            <a:r>
              <a:rPr lang="en-US" sz="2499" b="true">
                <a:solidFill>
                  <a:srgbClr val="65503D"/>
                </a:solidFill>
                <a:latin typeface="Jella Bold"/>
                <a:ea typeface="Jella Bold"/>
                <a:cs typeface="Jella Bold"/>
                <a:sym typeface="Jella Bold"/>
              </a:rPr>
              <a:t> Scale-IN and Scale-OUT are two different statues of Scaling.</a:t>
            </a:r>
          </a:p>
          <a:p>
            <a:pPr algn="l">
              <a:lnSpc>
                <a:spcPts val="3499"/>
              </a:lnSpc>
            </a:pPr>
            <a:r>
              <a:rPr lang="en-US" sz="2499" b="true">
                <a:solidFill>
                  <a:srgbClr val="65503D"/>
                </a:solidFill>
                <a:latin typeface="Jella Bold"/>
                <a:ea typeface="Jella Bold"/>
                <a:cs typeface="Jella Bold"/>
                <a:sym typeface="Jella Bold"/>
              </a:rPr>
              <a:t> </a:t>
            </a:r>
          </a:p>
        </p:txBody>
      </p:sp>
      <p:sp>
        <p:nvSpPr>
          <p:cNvPr name="TextBox 24" id="24"/>
          <p:cNvSpPr txBox="true"/>
          <p:nvPr/>
        </p:nvSpPr>
        <p:spPr>
          <a:xfrm rot="0">
            <a:off x="3648887" y="6049497"/>
            <a:ext cx="13196327" cy="3045348"/>
          </a:xfrm>
          <a:prstGeom prst="rect">
            <a:avLst/>
          </a:prstGeom>
        </p:spPr>
        <p:txBody>
          <a:bodyPr anchor="t" rtlCol="false" tIns="0" lIns="0" bIns="0" rIns="0">
            <a:spAutoFit/>
          </a:bodyPr>
          <a:lstStyle/>
          <a:p>
            <a:pPr algn="l">
              <a:lnSpc>
                <a:spcPts val="3296"/>
              </a:lnSpc>
            </a:pPr>
            <a:r>
              <a:rPr lang="en-US" sz="2354">
                <a:solidFill>
                  <a:srgbClr val="65503D"/>
                </a:solidFill>
                <a:latin typeface="Jella"/>
                <a:ea typeface="Jella"/>
                <a:cs typeface="Jella"/>
                <a:sym typeface="Jella"/>
              </a:rPr>
              <a:t> </a:t>
            </a:r>
            <a:r>
              <a:rPr lang="en-US" sz="2354" b="true">
                <a:solidFill>
                  <a:srgbClr val="65503D"/>
                </a:solidFill>
                <a:latin typeface="Jella Bold"/>
                <a:ea typeface="Jella Bold"/>
                <a:cs typeface="Jella Bold"/>
                <a:sym typeface="Jella Bold"/>
              </a:rPr>
              <a:t>CloudWatch continuously checks metrics like:</a:t>
            </a:r>
          </a:p>
          <a:p>
            <a:pPr algn="l" marL="508313" indent="-254157" lvl="1">
              <a:lnSpc>
                <a:spcPts val="3296"/>
              </a:lnSpc>
              <a:buFont typeface="Arial"/>
              <a:buChar char="•"/>
            </a:pPr>
            <a:r>
              <a:rPr lang="en-US" b="true" sz="2354">
                <a:solidFill>
                  <a:srgbClr val="65503D"/>
                </a:solidFill>
                <a:latin typeface="Jella Bold"/>
                <a:ea typeface="Jella Bold"/>
                <a:cs typeface="Jella Bold"/>
                <a:sym typeface="Jella Bold"/>
              </a:rPr>
              <a:t>CPU utilization</a:t>
            </a:r>
          </a:p>
          <a:p>
            <a:pPr algn="l" marL="508313" indent="-254157" lvl="1">
              <a:lnSpc>
                <a:spcPts val="3296"/>
              </a:lnSpc>
              <a:buFont typeface="Arial"/>
              <a:buChar char="•"/>
            </a:pPr>
            <a:r>
              <a:rPr lang="en-US" b="true" sz="2354">
                <a:solidFill>
                  <a:srgbClr val="65503D"/>
                </a:solidFill>
                <a:latin typeface="Jella Bold"/>
                <a:ea typeface="Jella Bold"/>
                <a:cs typeface="Jella Bold"/>
                <a:sym typeface="Jella Bold"/>
              </a:rPr>
              <a:t>Network traffic</a:t>
            </a:r>
          </a:p>
          <a:p>
            <a:pPr algn="l" marL="508313" indent="-254157" lvl="1">
              <a:lnSpc>
                <a:spcPts val="3296"/>
              </a:lnSpc>
              <a:buFont typeface="Arial"/>
              <a:buChar char="•"/>
            </a:pPr>
            <a:r>
              <a:rPr lang="en-US" b="true" sz="2354">
                <a:solidFill>
                  <a:srgbClr val="65503D"/>
                </a:solidFill>
                <a:latin typeface="Jella Bold"/>
                <a:ea typeface="Jella Bold"/>
                <a:cs typeface="Jella Bold"/>
                <a:sym typeface="Jella Bold"/>
              </a:rPr>
              <a:t>Application load</a:t>
            </a:r>
          </a:p>
          <a:p>
            <a:pPr algn="l" marL="508313" indent="-254157" lvl="1">
              <a:lnSpc>
                <a:spcPts val="3296"/>
              </a:lnSpc>
              <a:buFont typeface="Arial"/>
              <a:buChar char="•"/>
            </a:pPr>
            <a:r>
              <a:rPr lang="en-US" b="true" sz="2354">
                <a:solidFill>
                  <a:srgbClr val="65503D"/>
                </a:solidFill>
                <a:latin typeface="Jella Bold"/>
                <a:ea typeface="Jella Bold"/>
                <a:cs typeface="Jella Bold"/>
                <a:sym typeface="Jella Bold"/>
              </a:rPr>
              <a:t>Custom metrics</a:t>
            </a:r>
          </a:p>
          <a:p>
            <a:pPr algn="l">
              <a:lnSpc>
                <a:spcPts val="3296"/>
              </a:lnSpc>
            </a:pPr>
            <a:r>
              <a:rPr lang="en-US" sz="2354" b="true">
                <a:solidFill>
                  <a:srgbClr val="65503D"/>
                </a:solidFill>
                <a:latin typeface="Jella Bold"/>
                <a:ea typeface="Jella Bold"/>
                <a:cs typeface="Jella Bold"/>
                <a:sym typeface="Jella Bold"/>
              </a:rPr>
              <a:t>When a threshold is crossed → it triggers a scaling action.</a:t>
            </a:r>
          </a:p>
          <a:p>
            <a:pPr algn="l">
              <a:lnSpc>
                <a:spcPts val="3296"/>
              </a:lnSpc>
            </a:pP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FFF9EF"/>
        </a:solidFill>
      </p:bgPr>
    </p:bg>
    <p:spTree>
      <p:nvGrpSpPr>
        <p:cNvPr id="1" name=""/>
        <p:cNvGrpSpPr/>
        <p:nvPr/>
      </p:nvGrpSpPr>
      <p:grpSpPr>
        <a:xfrm>
          <a:off x="0" y="0"/>
          <a:ext cx="0" cy="0"/>
          <a:chOff x="0" y="0"/>
          <a:chExt cx="0" cy="0"/>
        </a:xfrm>
      </p:grpSpPr>
      <p:sp>
        <p:nvSpPr>
          <p:cNvPr name="TextBox 2" id="2"/>
          <p:cNvSpPr txBox="true"/>
          <p:nvPr/>
        </p:nvSpPr>
        <p:spPr>
          <a:xfrm rot="0">
            <a:off x="5400515" y="876300"/>
            <a:ext cx="6324600" cy="1295400"/>
          </a:xfrm>
          <a:prstGeom prst="rect">
            <a:avLst/>
          </a:prstGeom>
        </p:spPr>
        <p:txBody>
          <a:bodyPr anchor="t" rtlCol="false" tIns="0" lIns="0" bIns="0" rIns="0">
            <a:spAutoFit/>
          </a:bodyPr>
          <a:lstStyle/>
          <a:p>
            <a:pPr algn="ctr">
              <a:lnSpc>
                <a:spcPts val="10500"/>
              </a:lnSpc>
              <a:spcBef>
                <a:spcPct val="0"/>
              </a:spcBef>
            </a:pPr>
            <a:r>
              <a:rPr lang="en-US" sz="7500">
                <a:solidFill>
                  <a:srgbClr val="76ADFF"/>
                </a:solidFill>
                <a:latin typeface="Wedges"/>
                <a:ea typeface="Wedges"/>
                <a:cs typeface="Wedges"/>
                <a:sym typeface="Wedges"/>
              </a:rPr>
              <a:t> QUESTION 10</a:t>
            </a:r>
          </a:p>
        </p:txBody>
      </p:sp>
      <p:sp>
        <p:nvSpPr>
          <p:cNvPr name="TextBox 3" id="3"/>
          <p:cNvSpPr txBox="true"/>
          <p:nvPr/>
        </p:nvSpPr>
        <p:spPr>
          <a:xfrm rot="0">
            <a:off x="804060" y="3511337"/>
            <a:ext cx="16650257" cy="2128310"/>
          </a:xfrm>
          <a:prstGeom prst="rect">
            <a:avLst/>
          </a:prstGeom>
        </p:spPr>
        <p:txBody>
          <a:bodyPr anchor="t" rtlCol="false" tIns="0" lIns="0" bIns="0" rIns="0">
            <a:spAutoFit/>
          </a:bodyPr>
          <a:lstStyle/>
          <a:p>
            <a:pPr algn="ctr">
              <a:lnSpc>
                <a:spcPts val="5541"/>
              </a:lnSpc>
            </a:pPr>
            <a:r>
              <a:rPr lang="en-US" sz="3958" b="true">
                <a:solidFill>
                  <a:srgbClr val="000000"/>
                </a:solidFill>
                <a:latin typeface="Muli Bold"/>
                <a:ea typeface="Muli Bold"/>
                <a:cs typeface="Muli Bold"/>
                <a:sym typeface="Muli Bold"/>
              </a:rPr>
              <a:t>What are your daily responsibilities in your </a:t>
            </a:r>
          </a:p>
          <a:p>
            <a:pPr algn="ctr">
              <a:lnSpc>
                <a:spcPts val="5961"/>
              </a:lnSpc>
            </a:pPr>
            <a:r>
              <a:rPr lang="en-US" sz="4258" b="true">
                <a:solidFill>
                  <a:srgbClr val="000000"/>
                </a:solidFill>
                <a:latin typeface="Muli Bold"/>
                <a:ea typeface="Muli Bold"/>
                <a:cs typeface="Muli Bold"/>
                <a:sym typeface="Muli Bold"/>
              </a:rPr>
              <a:t>current project?</a:t>
            </a:r>
          </a:p>
          <a:p>
            <a:pPr algn="ctr">
              <a:lnSpc>
                <a:spcPts val="5541"/>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644F3D"/>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05720" y="1170762"/>
            <a:ext cx="15876560" cy="7945476"/>
            <a:chOff x="0" y="0"/>
            <a:chExt cx="4181481" cy="2092636"/>
          </a:xfrm>
        </p:grpSpPr>
        <p:sp>
          <p:nvSpPr>
            <p:cNvPr name="Freeform 7" id="7" descr="ANSWER"/>
            <p:cNvSpPr/>
            <p:nvPr/>
          </p:nvSpPr>
          <p:spPr>
            <a:xfrm flipH="false" flipV="false" rot="0">
              <a:off x="0" y="0"/>
              <a:ext cx="4181481" cy="2092636"/>
            </a:xfrm>
            <a:custGeom>
              <a:avLst/>
              <a:gdLst/>
              <a:ahLst/>
              <a:cxnLst/>
              <a:rect r="r" b="b" t="t" l="l"/>
              <a:pathLst>
                <a:path h="2092636" w="4181481">
                  <a:moveTo>
                    <a:pt x="0" y="0"/>
                  </a:moveTo>
                  <a:lnTo>
                    <a:pt x="4181481" y="0"/>
                  </a:lnTo>
                  <a:lnTo>
                    <a:pt x="4181481" y="2092636"/>
                  </a:lnTo>
                  <a:lnTo>
                    <a:pt x="0" y="2092636"/>
                  </a:lnTo>
                  <a:close/>
                </a:path>
              </a:pathLst>
            </a:custGeom>
            <a:solidFill>
              <a:srgbClr val="FFFFFF"/>
            </a:solidFill>
            <a:ln w="38100" cap="sq">
              <a:solidFill>
                <a:srgbClr val="C1CE9A"/>
              </a:solidFill>
              <a:prstDash val="lgDash"/>
              <a:miter/>
            </a:ln>
          </p:spPr>
        </p:sp>
        <p:sp>
          <p:nvSpPr>
            <p:cNvPr name="TextBox 8" id="8"/>
            <p:cNvSpPr txBox="true"/>
            <p:nvPr/>
          </p:nvSpPr>
          <p:spPr>
            <a:xfrm>
              <a:off x="0" y="-38100"/>
              <a:ext cx="4181481" cy="213073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false" rot="0">
            <a:off x="16143268" y="-3984217"/>
            <a:ext cx="10801253" cy="5756168"/>
          </a:xfrm>
          <a:custGeom>
            <a:avLst/>
            <a:gdLst/>
            <a:ahLst/>
            <a:cxnLst/>
            <a:rect r="r" b="b" t="t" l="l"/>
            <a:pathLst>
              <a:path h="5756168" w="10801253">
                <a:moveTo>
                  <a:pt x="10801252" y="0"/>
                </a:moveTo>
                <a:lnTo>
                  <a:pt x="0" y="0"/>
                </a:lnTo>
                <a:lnTo>
                  <a:pt x="0" y="5756167"/>
                </a:lnTo>
                <a:lnTo>
                  <a:pt x="10801252" y="5756167"/>
                </a:lnTo>
                <a:lnTo>
                  <a:pt x="1080125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false" rot="0">
            <a:off x="292166" y="1438055"/>
            <a:ext cx="1312631" cy="837697"/>
          </a:xfrm>
          <a:custGeom>
            <a:avLst/>
            <a:gdLst/>
            <a:ahLst/>
            <a:cxnLst/>
            <a:rect r="r" b="b" t="t" l="l"/>
            <a:pathLst>
              <a:path h="837697" w="1312631">
                <a:moveTo>
                  <a:pt x="1312631" y="0"/>
                </a:moveTo>
                <a:lnTo>
                  <a:pt x="0" y="0"/>
                </a:lnTo>
                <a:lnTo>
                  <a:pt x="0" y="837697"/>
                </a:lnTo>
                <a:lnTo>
                  <a:pt x="1312631" y="837697"/>
                </a:lnTo>
                <a:lnTo>
                  <a:pt x="1312631"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1" id="11"/>
          <p:cNvSpPr/>
          <p:nvPr/>
        </p:nvSpPr>
        <p:spPr>
          <a:xfrm flipH="false" flipV="false" rot="0">
            <a:off x="1604797" y="308481"/>
            <a:ext cx="1581824" cy="1009491"/>
          </a:xfrm>
          <a:custGeom>
            <a:avLst/>
            <a:gdLst/>
            <a:ahLst/>
            <a:cxnLst/>
            <a:rect r="r" b="b" t="t" l="l"/>
            <a:pathLst>
              <a:path h="1009491" w="1581824">
                <a:moveTo>
                  <a:pt x="0" y="0"/>
                </a:moveTo>
                <a:lnTo>
                  <a:pt x="1581824" y="0"/>
                </a:lnTo>
                <a:lnTo>
                  <a:pt x="1581824" y="1009491"/>
                </a:lnTo>
                <a:lnTo>
                  <a:pt x="0" y="10094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2" id="12"/>
          <p:cNvSpPr/>
          <p:nvPr/>
        </p:nvSpPr>
        <p:spPr>
          <a:xfrm flipH="false" flipV="false" rot="0">
            <a:off x="16143268" y="7552514"/>
            <a:ext cx="1793964" cy="1144875"/>
          </a:xfrm>
          <a:custGeom>
            <a:avLst/>
            <a:gdLst/>
            <a:ahLst/>
            <a:cxnLst/>
            <a:rect r="r" b="b" t="t" l="l"/>
            <a:pathLst>
              <a:path h="1144875" w="1793964">
                <a:moveTo>
                  <a:pt x="0" y="0"/>
                </a:moveTo>
                <a:lnTo>
                  <a:pt x="1793964" y="0"/>
                </a:lnTo>
                <a:lnTo>
                  <a:pt x="1793964" y="1144875"/>
                </a:lnTo>
                <a:lnTo>
                  <a:pt x="0" y="11448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3" id="13"/>
          <p:cNvSpPr/>
          <p:nvPr/>
        </p:nvSpPr>
        <p:spPr>
          <a:xfrm flipH="false" flipV="false" rot="0">
            <a:off x="-8656520" y="-3984217"/>
            <a:ext cx="10801253" cy="5756168"/>
          </a:xfrm>
          <a:custGeom>
            <a:avLst/>
            <a:gdLst/>
            <a:ahLst/>
            <a:cxnLst/>
            <a:rect r="r" b="b" t="t" l="l"/>
            <a:pathLst>
              <a:path h="5756168" w="10801253">
                <a:moveTo>
                  <a:pt x="0" y="0"/>
                </a:moveTo>
                <a:lnTo>
                  <a:pt x="10801252" y="0"/>
                </a:lnTo>
                <a:lnTo>
                  <a:pt x="10801252" y="5756167"/>
                </a:lnTo>
                <a:lnTo>
                  <a:pt x="0" y="5756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469220" y="7641371"/>
            <a:ext cx="5496517" cy="2970409"/>
          </a:xfrm>
          <a:custGeom>
            <a:avLst/>
            <a:gdLst/>
            <a:ahLst/>
            <a:cxnLst/>
            <a:rect r="r" b="b" t="t" l="l"/>
            <a:pathLst>
              <a:path h="2970409" w="5496517">
                <a:moveTo>
                  <a:pt x="0" y="0"/>
                </a:moveTo>
                <a:lnTo>
                  <a:pt x="5496517" y="0"/>
                </a:lnTo>
                <a:lnTo>
                  <a:pt x="5496517" y="2970409"/>
                </a:lnTo>
                <a:lnTo>
                  <a:pt x="0" y="29704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true" flipV="false" rot="0">
            <a:off x="15260703" y="7641371"/>
            <a:ext cx="5496517" cy="2970409"/>
          </a:xfrm>
          <a:custGeom>
            <a:avLst/>
            <a:gdLst/>
            <a:ahLst/>
            <a:cxnLst/>
            <a:rect r="r" b="b" t="t" l="l"/>
            <a:pathLst>
              <a:path h="2970409" w="5496517">
                <a:moveTo>
                  <a:pt x="5496517" y="0"/>
                </a:moveTo>
                <a:lnTo>
                  <a:pt x="0" y="0"/>
                </a:lnTo>
                <a:lnTo>
                  <a:pt x="0" y="2970409"/>
                </a:lnTo>
                <a:lnTo>
                  <a:pt x="5496517" y="2970409"/>
                </a:lnTo>
                <a:lnTo>
                  <a:pt x="5496517"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6" id="16"/>
          <p:cNvSpPr/>
          <p:nvPr/>
        </p:nvSpPr>
        <p:spPr>
          <a:xfrm flipH="false" flipV="false" rot="-2219639">
            <a:off x="1081443" y="3215145"/>
            <a:ext cx="725260" cy="417931"/>
          </a:xfrm>
          <a:custGeom>
            <a:avLst/>
            <a:gdLst/>
            <a:ahLst/>
            <a:cxnLst/>
            <a:rect r="r" b="b" t="t" l="l"/>
            <a:pathLst>
              <a:path h="417931" w="725260">
                <a:moveTo>
                  <a:pt x="0" y="0"/>
                </a:moveTo>
                <a:lnTo>
                  <a:pt x="725260" y="0"/>
                </a:lnTo>
                <a:lnTo>
                  <a:pt x="725260" y="417930"/>
                </a:lnTo>
                <a:lnTo>
                  <a:pt x="0" y="41793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6777636" y="1354965"/>
            <a:ext cx="4192793" cy="1572796"/>
          </a:xfrm>
          <a:prstGeom prst="rect">
            <a:avLst/>
          </a:prstGeom>
        </p:spPr>
        <p:txBody>
          <a:bodyPr anchor="t" rtlCol="false" tIns="0" lIns="0" bIns="0" rIns="0">
            <a:spAutoFit/>
          </a:bodyPr>
          <a:lstStyle/>
          <a:p>
            <a:pPr algn="l">
              <a:lnSpc>
                <a:spcPts val="9714"/>
              </a:lnSpc>
            </a:pPr>
            <a:r>
              <a:rPr lang="en-US" sz="6939">
                <a:solidFill>
                  <a:srgbClr val="76ADFF"/>
                </a:solidFill>
                <a:latin typeface="Wedges"/>
                <a:ea typeface="Wedges"/>
                <a:cs typeface="Wedges"/>
                <a:sym typeface="Wedges"/>
              </a:rPr>
              <a:t>ANSWERS</a:t>
            </a:r>
          </a:p>
          <a:p>
            <a:pPr algn="l">
              <a:lnSpc>
                <a:spcPts val="2501"/>
              </a:lnSpc>
            </a:pPr>
          </a:p>
        </p:txBody>
      </p:sp>
      <p:sp>
        <p:nvSpPr>
          <p:cNvPr name="Freeform 18" id="18"/>
          <p:cNvSpPr/>
          <p:nvPr/>
        </p:nvSpPr>
        <p:spPr>
          <a:xfrm flipH="false" flipV="false" rot="-2219639">
            <a:off x="1081443" y="6463762"/>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9" id="19"/>
          <p:cNvSpPr txBox="true"/>
          <p:nvPr/>
        </p:nvSpPr>
        <p:spPr>
          <a:xfrm rot="0">
            <a:off x="2144732" y="2670586"/>
            <a:ext cx="14700482" cy="2020086"/>
          </a:xfrm>
          <a:prstGeom prst="rect">
            <a:avLst/>
          </a:prstGeom>
        </p:spPr>
        <p:txBody>
          <a:bodyPr anchor="t" rtlCol="false" tIns="0" lIns="0" bIns="0" rIns="0">
            <a:spAutoFit/>
          </a:bodyPr>
          <a:lstStyle/>
          <a:p>
            <a:pPr algn="l">
              <a:lnSpc>
                <a:spcPts val="3631"/>
              </a:lnSpc>
            </a:pPr>
            <a:r>
              <a:rPr lang="en-US" sz="2594" b="true">
                <a:solidFill>
                  <a:srgbClr val="65503D"/>
                </a:solidFill>
                <a:latin typeface="Jella Bold"/>
                <a:ea typeface="Jella Bold"/>
                <a:cs typeface="Jella Bold"/>
                <a:sym typeface="Jella Bold"/>
              </a:rPr>
              <a:t> In my current role as a ClouDevOps Engineer, my daily responsibilities involve a blend of infrastructure management, automation, and collaboration to ensure smooth and efficient operations.</a:t>
            </a:r>
          </a:p>
          <a:p>
            <a:pPr algn="l">
              <a:lnSpc>
                <a:spcPts val="3631"/>
              </a:lnSpc>
            </a:pPr>
          </a:p>
        </p:txBody>
      </p:sp>
      <p:sp>
        <p:nvSpPr>
          <p:cNvPr name="TextBox 20" id="20"/>
          <p:cNvSpPr txBox="true"/>
          <p:nvPr/>
        </p:nvSpPr>
        <p:spPr>
          <a:xfrm rot="0">
            <a:off x="2106940" y="4763486"/>
            <a:ext cx="14933310" cy="3361465"/>
          </a:xfrm>
          <a:prstGeom prst="rect">
            <a:avLst/>
          </a:prstGeom>
        </p:spPr>
        <p:txBody>
          <a:bodyPr anchor="t" rtlCol="false" tIns="0" lIns="0" bIns="0" rIns="0">
            <a:spAutoFit/>
          </a:bodyPr>
          <a:lstStyle/>
          <a:p>
            <a:pPr algn="l">
              <a:lnSpc>
                <a:spcPts val="3197"/>
              </a:lnSpc>
            </a:pPr>
            <a:r>
              <a:rPr lang="en-US" sz="2283" b="true">
                <a:solidFill>
                  <a:srgbClr val="65503D"/>
                </a:solidFill>
                <a:latin typeface="Jella Bold"/>
                <a:ea typeface="Jella Bold"/>
                <a:cs typeface="Jella Bold"/>
                <a:sym typeface="Jella Bold"/>
              </a:rPr>
              <a:t> Monitoring and Maintenance: </a:t>
            </a:r>
          </a:p>
          <a:p>
            <a:pPr algn="l">
              <a:lnSpc>
                <a:spcPts val="3197"/>
              </a:lnSpc>
            </a:pPr>
          </a:p>
          <a:p>
            <a:pPr algn="l">
              <a:lnSpc>
                <a:spcPts val="3197"/>
              </a:lnSpc>
            </a:pPr>
            <a:r>
              <a:rPr lang="en-US" sz="2283" b="true">
                <a:solidFill>
                  <a:srgbClr val="65503D"/>
                </a:solidFill>
                <a:latin typeface="Jella Bold"/>
                <a:ea typeface="Jella Bold"/>
                <a:cs typeface="Jella Bold"/>
                <a:sym typeface="Jella Bold"/>
              </a:rPr>
              <a:t>○ Health Checks: I Start the day by reviewing health dashboards and monitoring alerts using tools like Prometheus and Grafana.</a:t>
            </a:r>
          </a:p>
          <a:p>
            <a:pPr algn="l">
              <a:lnSpc>
                <a:spcPts val="3197"/>
              </a:lnSpc>
            </a:pPr>
            <a:r>
              <a:rPr lang="en-US" sz="2283" b="true">
                <a:solidFill>
                  <a:srgbClr val="65503D"/>
                </a:solidFill>
                <a:latin typeface="Jella Bold"/>
                <a:ea typeface="Jella Bold"/>
                <a:cs typeface="Jella Bold"/>
                <a:sym typeface="Jella Bold"/>
              </a:rPr>
              <a:t> </a:t>
            </a:r>
          </a:p>
          <a:p>
            <a:pPr algn="l">
              <a:lnSpc>
                <a:spcPts val="3197"/>
              </a:lnSpc>
            </a:pPr>
            <a:r>
              <a:rPr lang="en-US" sz="2283" b="true">
                <a:solidFill>
                  <a:srgbClr val="65503D"/>
                </a:solidFill>
                <a:latin typeface="Jella Bold"/>
                <a:ea typeface="Jella Bold"/>
                <a:cs typeface="Jella Bold"/>
                <a:sym typeface="Jella Bold"/>
              </a:rPr>
              <a:t>○ Issue Mitigation: Prioritize troubleshooting any detected anomalies to preventimpact on en-users.</a:t>
            </a:r>
          </a:p>
          <a:p>
            <a:pPr algn="l">
              <a:lnSpc>
                <a:spcPts val="3197"/>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644F3D"/>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05720" y="1170762"/>
            <a:ext cx="15876560" cy="7945476"/>
            <a:chOff x="0" y="0"/>
            <a:chExt cx="4181481" cy="2092636"/>
          </a:xfrm>
        </p:grpSpPr>
        <p:sp>
          <p:nvSpPr>
            <p:cNvPr name="Freeform 7" id="7" descr="ANSWER"/>
            <p:cNvSpPr/>
            <p:nvPr/>
          </p:nvSpPr>
          <p:spPr>
            <a:xfrm flipH="false" flipV="false" rot="0">
              <a:off x="0" y="0"/>
              <a:ext cx="4181481" cy="2092636"/>
            </a:xfrm>
            <a:custGeom>
              <a:avLst/>
              <a:gdLst/>
              <a:ahLst/>
              <a:cxnLst/>
              <a:rect r="r" b="b" t="t" l="l"/>
              <a:pathLst>
                <a:path h="2092636" w="4181481">
                  <a:moveTo>
                    <a:pt x="0" y="0"/>
                  </a:moveTo>
                  <a:lnTo>
                    <a:pt x="4181481" y="0"/>
                  </a:lnTo>
                  <a:lnTo>
                    <a:pt x="4181481" y="2092636"/>
                  </a:lnTo>
                  <a:lnTo>
                    <a:pt x="0" y="2092636"/>
                  </a:lnTo>
                  <a:close/>
                </a:path>
              </a:pathLst>
            </a:custGeom>
            <a:solidFill>
              <a:srgbClr val="FFFFFF"/>
            </a:solidFill>
            <a:ln w="38100" cap="sq">
              <a:solidFill>
                <a:srgbClr val="C1CE9A"/>
              </a:solidFill>
              <a:prstDash val="lgDash"/>
              <a:miter/>
            </a:ln>
          </p:spPr>
        </p:sp>
        <p:sp>
          <p:nvSpPr>
            <p:cNvPr name="TextBox 8" id="8"/>
            <p:cNvSpPr txBox="true"/>
            <p:nvPr/>
          </p:nvSpPr>
          <p:spPr>
            <a:xfrm>
              <a:off x="0" y="-38100"/>
              <a:ext cx="4181481" cy="213073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false" rot="0">
            <a:off x="16143268" y="-3984217"/>
            <a:ext cx="10801253" cy="5756168"/>
          </a:xfrm>
          <a:custGeom>
            <a:avLst/>
            <a:gdLst/>
            <a:ahLst/>
            <a:cxnLst/>
            <a:rect r="r" b="b" t="t" l="l"/>
            <a:pathLst>
              <a:path h="5756168" w="10801253">
                <a:moveTo>
                  <a:pt x="10801252" y="0"/>
                </a:moveTo>
                <a:lnTo>
                  <a:pt x="0" y="0"/>
                </a:lnTo>
                <a:lnTo>
                  <a:pt x="0" y="5756167"/>
                </a:lnTo>
                <a:lnTo>
                  <a:pt x="10801252" y="5756167"/>
                </a:lnTo>
                <a:lnTo>
                  <a:pt x="1080125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false" rot="0">
            <a:off x="292166" y="1438055"/>
            <a:ext cx="1312631" cy="837697"/>
          </a:xfrm>
          <a:custGeom>
            <a:avLst/>
            <a:gdLst/>
            <a:ahLst/>
            <a:cxnLst/>
            <a:rect r="r" b="b" t="t" l="l"/>
            <a:pathLst>
              <a:path h="837697" w="1312631">
                <a:moveTo>
                  <a:pt x="1312631" y="0"/>
                </a:moveTo>
                <a:lnTo>
                  <a:pt x="0" y="0"/>
                </a:lnTo>
                <a:lnTo>
                  <a:pt x="0" y="837697"/>
                </a:lnTo>
                <a:lnTo>
                  <a:pt x="1312631" y="837697"/>
                </a:lnTo>
                <a:lnTo>
                  <a:pt x="1312631"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1" id="11"/>
          <p:cNvSpPr/>
          <p:nvPr/>
        </p:nvSpPr>
        <p:spPr>
          <a:xfrm flipH="false" flipV="false" rot="0">
            <a:off x="1604797" y="308481"/>
            <a:ext cx="1581824" cy="1009491"/>
          </a:xfrm>
          <a:custGeom>
            <a:avLst/>
            <a:gdLst/>
            <a:ahLst/>
            <a:cxnLst/>
            <a:rect r="r" b="b" t="t" l="l"/>
            <a:pathLst>
              <a:path h="1009491" w="1581824">
                <a:moveTo>
                  <a:pt x="0" y="0"/>
                </a:moveTo>
                <a:lnTo>
                  <a:pt x="1581824" y="0"/>
                </a:lnTo>
                <a:lnTo>
                  <a:pt x="1581824" y="1009491"/>
                </a:lnTo>
                <a:lnTo>
                  <a:pt x="0" y="10094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2" id="12"/>
          <p:cNvSpPr/>
          <p:nvPr/>
        </p:nvSpPr>
        <p:spPr>
          <a:xfrm flipH="false" flipV="false" rot="0">
            <a:off x="16143268" y="7552514"/>
            <a:ext cx="1793964" cy="1144875"/>
          </a:xfrm>
          <a:custGeom>
            <a:avLst/>
            <a:gdLst/>
            <a:ahLst/>
            <a:cxnLst/>
            <a:rect r="r" b="b" t="t" l="l"/>
            <a:pathLst>
              <a:path h="1144875" w="1793964">
                <a:moveTo>
                  <a:pt x="0" y="0"/>
                </a:moveTo>
                <a:lnTo>
                  <a:pt x="1793964" y="0"/>
                </a:lnTo>
                <a:lnTo>
                  <a:pt x="1793964" y="1144875"/>
                </a:lnTo>
                <a:lnTo>
                  <a:pt x="0" y="11448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3" id="13"/>
          <p:cNvSpPr/>
          <p:nvPr/>
        </p:nvSpPr>
        <p:spPr>
          <a:xfrm flipH="false" flipV="false" rot="0">
            <a:off x="-8656520" y="-3984217"/>
            <a:ext cx="10801253" cy="5756168"/>
          </a:xfrm>
          <a:custGeom>
            <a:avLst/>
            <a:gdLst/>
            <a:ahLst/>
            <a:cxnLst/>
            <a:rect r="r" b="b" t="t" l="l"/>
            <a:pathLst>
              <a:path h="5756168" w="10801253">
                <a:moveTo>
                  <a:pt x="0" y="0"/>
                </a:moveTo>
                <a:lnTo>
                  <a:pt x="10801252" y="0"/>
                </a:lnTo>
                <a:lnTo>
                  <a:pt x="10801252" y="5756167"/>
                </a:lnTo>
                <a:lnTo>
                  <a:pt x="0" y="5756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469220" y="7641371"/>
            <a:ext cx="5496517" cy="2970409"/>
          </a:xfrm>
          <a:custGeom>
            <a:avLst/>
            <a:gdLst/>
            <a:ahLst/>
            <a:cxnLst/>
            <a:rect r="r" b="b" t="t" l="l"/>
            <a:pathLst>
              <a:path h="2970409" w="5496517">
                <a:moveTo>
                  <a:pt x="0" y="0"/>
                </a:moveTo>
                <a:lnTo>
                  <a:pt x="5496517" y="0"/>
                </a:lnTo>
                <a:lnTo>
                  <a:pt x="5496517" y="2970409"/>
                </a:lnTo>
                <a:lnTo>
                  <a:pt x="0" y="29704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true" flipV="false" rot="0">
            <a:off x="15260703" y="7641371"/>
            <a:ext cx="5496517" cy="2970409"/>
          </a:xfrm>
          <a:custGeom>
            <a:avLst/>
            <a:gdLst/>
            <a:ahLst/>
            <a:cxnLst/>
            <a:rect r="r" b="b" t="t" l="l"/>
            <a:pathLst>
              <a:path h="2970409" w="5496517">
                <a:moveTo>
                  <a:pt x="5496517" y="0"/>
                </a:moveTo>
                <a:lnTo>
                  <a:pt x="0" y="0"/>
                </a:lnTo>
                <a:lnTo>
                  <a:pt x="0" y="2970409"/>
                </a:lnTo>
                <a:lnTo>
                  <a:pt x="5496517" y="2970409"/>
                </a:lnTo>
                <a:lnTo>
                  <a:pt x="5496517"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6" id="16"/>
          <p:cNvSpPr/>
          <p:nvPr/>
        </p:nvSpPr>
        <p:spPr>
          <a:xfrm flipH="false" flipV="false" rot="-2219639">
            <a:off x="1258463" y="2830038"/>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2219639">
            <a:off x="1081443" y="6085672"/>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8" id="18"/>
          <p:cNvSpPr txBox="true"/>
          <p:nvPr/>
        </p:nvSpPr>
        <p:spPr>
          <a:xfrm rot="0">
            <a:off x="2223354" y="1443173"/>
            <a:ext cx="14700482" cy="2934486"/>
          </a:xfrm>
          <a:prstGeom prst="rect">
            <a:avLst/>
          </a:prstGeom>
        </p:spPr>
        <p:txBody>
          <a:bodyPr anchor="t" rtlCol="false" tIns="0" lIns="0" bIns="0" rIns="0">
            <a:spAutoFit/>
          </a:bodyPr>
          <a:lstStyle/>
          <a:p>
            <a:pPr algn="l">
              <a:lnSpc>
                <a:spcPts val="3631"/>
              </a:lnSpc>
            </a:pPr>
            <a:r>
              <a:rPr lang="en-US" sz="2594" b="true">
                <a:solidFill>
                  <a:srgbClr val="65503D"/>
                </a:solidFill>
                <a:latin typeface="Jella Bold"/>
                <a:ea typeface="Jella Bold"/>
                <a:cs typeface="Jella Bold"/>
                <a:sym typeface="Jella Bold"/>
              </a:rPr>
              <a:t> CI/CD Pipeline Management: </a:t>
            </a:r>
          </a:p>
          <a:p>
            <a:pPr algn="l">
              <a:lnSpc>
                <a:spcPts val="3631"/>
              </a:lnSpc>
            </a:pPr>
            <a:r>
              <a:rPr lang="en-US" sz="2594" b="true">
                <a:solidFill>
                  <a:srgbClr val="65503D"/>
                </a:solidFill>
                <a:latin typeface="Jella Bold"/>
                <a:ea typeface="Jella Bold"/>
                <a:cs typeface="Jella Bold"/>
                <a:sym typeface="Jella Bold"/>
              </a:rPr>
              <a:t>○ Automation: Work with Jenkins and GitLab CI to streamline the deployment </a:t>
            </a:r>
          </a:p>
          <a:p>
            <a:pPr algn="l">
              <a:lnSpc>
                <a:spcPts val="3631"/>
              </a:lnSpc>
            </a:pPr>
            <a:r>
              <a:rPr lang="en-US" sz="2594" b="true">
                <a:solidFill>
                  <a:srgbClr val="65503D"/>
                </a:solidFill>
                <a:latin typeface="Jella Bold"/>
                <a:ea typeface="Jella Bold"/>
                <a:cs typeface="Jella Bold"/>
                <a:sym typeface="Jella Bold"/>
              </a:rPr>
              <a:t>process. </a:t>
            </a:r>
          </a:p>
          <a:p>
            <a:pPr algn="l">
              <a:lnSpc>
                <a:spcPts val="3631"/>
              </a:lnSpc>
            </a:pPr>
            <a:r>
              <a:rPr lang="en-US" sz="2594" b="true">
                <a:solidFill>
                  <a:srgbClr val="65503D"/>
                </a:solidFill>
                <a:latin typeface="Jella Bold"/>
                <a:ea typeface="Jella Bold"/>
                <a:cs typeface="Jella Bold"/>
                <a:sym typeface="Jella Bold"/>
              </a:rPr>
              <a:t>○ Pipeline Development: Write and maintain pipeline scripts, integrate automated </a:t>
            </a:r>
          </a:p>
          <a:p>
            <a:pPr algn="l">
              <a:lnSpc>
                <a:spcPts val="3631"/>
              </a:lnSpc>
            </a:pPr>
            <a:r>
              <a:rPr lang="en-US" sz="2594" b="true">
                <a:solidFill>
                  <a:srgbClr val="65503D"/>
                </a:solidFill>
                <a:latin typeface="Jella Bold"/>
                <a:ea typeface="Jella Bold"/>
                <a:cs typeface="Jella Bold"/>
                <a:sym typeface="Jella Bold"/>
              </a:rPr>
              <a:t>testing, and ensure smooth deployments with rollback strategies</a:t>
            </a:r>
          </a:p>
          <a:p>
            <a:pPr algn="l">
              <a:lnSpc>
                <a:spcPts val="3631"/>
              </a:lnSpc>
            </a:pPr>
          </a:p>
        </p:txBody>
      </p:sp>
      <p:sp>
        <p:nvSpPr>
          <p:cNvPr name="TextBox 19" id="19"/>
          <p:cNvSpPr txBox="true"/>
          <p:nvPr/>
        </p:nvSpPr>
        <p:spPr>
          <a:xfrm rot="0">
            <a:off x="2106940" y="4725386"/>
            <a:ext cx="14933310" cy="2881327"/>
          </a:xfrm>
          <a:prstGeom prst="rect">
            <a:avLst/>
          </a:prstGeom>
        </p:spPr>
        <p:txBody>
          <a:bodyPr anchor="t" rtlCol="false" tIns="0" lIns="0" bIns="0" rIns="0">
            <a:spAutoFit/>
          </a:bodyPr>
          <a:lstStyle/>
          <a:p>
            <a:pPr algn="l">
              <a:lnSpc>
                <a:spcPts val="3625"/>
              </a:lnSpc>
            </a:pPr>
            <a:r>
              <a:rPr lang="en-US" sz="2589" b="true">
                <a:solidFill>
                  <a:srgbClr val="65503D"/>
                </a:solidFill>
                <a:latin typeface="Jella Bold"/>
                <a:ea typeface="Jella Bold"/>
                <a:cs typeface="Jella Bold"/>
                <a:sym typeface="Jella Bold"/>
              </a:rPr>
              <a:t> Infrastructure as Code (IaC): </a:t>
            </a:r>
          </a:p>
          <a:p>
            <a:pPr algn="l">
              <a:lnSpc>
                <a:spcPts val="3625"/>
              </a:lnSpc>
            </a:pPr>
            <a:r>
              <a:rPr lang="en-US" sz="2589" b="true">
                <a:solidFill>
                  <a:srgbClr val="65503D"/>
                </a:solidFill>
                <a:latin typeface="Jella Bold"/>
                <a:ea typeface="Jella Bold"/>
                <a:cs typeface="Jella Bold"/>
                <a:sym typeface="Jella Bold"/>
              </a:rPr>
              <a:t>○ Provisioning: Use Terraform and Ansible to provision and manage AWS cloud </a:t>
            </a:r>
          </a:p>
          <a:p>
            <a:pPr algn="l">
              <a:lnSpc>
                <a:spcPts val="3625"/>
              </a:lnSpc>
            </a:pPr>
            <a:r>
              <a:rPr lang="en-US" sz="2589" b="true">
                <a:solidFill>
                  <a:srgbClr val="65503D"/>
                </a:solidFill>
                <a:latin typeface="Jella Bold"/>
                <a:ea typeface="Jella Bold"/>
                <a:cs typeface="Jella Bold"/>
                <a:sym typeface="Jella Bold"/>
              </a:rPr>
              <a:t>resources. </a:t>
            </a:r>
          </a:p>
          <a:p>
            <a:pPr algn="l">
              <a:lnSpc>
                <a:spcPts val="3625"/>
              </a:lnSpc>
            </a:pPr>
            <a:r>
              <a:rPr lang="en-US" sz="2589" b="true">
                <a:solidFill>
                  <a:srgbClr val="65503D"/>
                </a:solidFill>
                <a:latin typeface="Jella Bold"/>
                <a:ea typeface="Jella Bold"/>
                <a:cs typeface="Jella Bold"/>
                <a:sym typeface="Jella Bold"/>
              </a:rPr>
              <a:t>○ Resource Management: Configure EC2 instances, manage VPCs, set up S3 </a:t>
            </a:r>
          </a:p>
          <a:p>
            <a:pPr algn="l">
              <a:lnSpc>
                <a:spcPts val="3625"/>
              </a:lnSpc>
            </a:pPr>
            <a:r>
              <a:rPr lang="en-US" sz="2589" b="true">
                <a:solidFill>
                  <a:srgbClr val="65503D"/>
                </a:solidFill>
                <a:latin typeface="Jella Bold"/>
                <a:ea typeface="Jella Bold"/>
                <a:cs typeface="Jella Bold"/>
                <a:sym typeface="Jella Bold"/>
              </a:rPr>
              <a:t>buckets, and handle IAM roles and permissions</a:t>
            </a:r>
          </a:p>
          <a:p>
            <a:pPr algn="l">
              <a:lnSpc>
                <a:spcPts val="3197"/>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644F3D"/>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05720" y="1170762"/>
            <a:ext cx="15876560" cy="7945476"/>
            <a:chOff x="0" y="0"/>
            <a:chExt cx="4181481" cy="2092636"/>
          </a:xfrm>
        </p:grpSpPr>
        <p:sp>
          <p:nvSpPr>
            <p:cNvPr name="Freeform 7" id="7" descr="ANSWER"/>
            <p:cNvSpPr/>
            <p:nvPr/>
          </p:nvSpPr>
          <p:spPr>
            <a:xfrm flipH="false" flipV="false" rot="0">
              <a:off x="0" y="0"/>
              <a:ext cx="4181481" cy="2092636"/>
            </a:xfrm>
            <a:custGeom>
              <a:avLst/>
              <a:gdLst/>
              <a:ahLst/>
              <a:cxnLst/>
              <a:rect r="r" b="b" t="t" l="l"/>
              <a:pathLst>
                <a:path h="2092636" w="4181481">
                  <a:moveTo>
                    <a:pt x="0" y="0"/>
                  </a:moveTo>
                  <a:lnTo>
                    <a:pt x="4181481" y="0"/>
                  </a:lnTo>
                  <a:lnTo>
                    <a:pt x="4181481" y="2092636"/>
                  </a:lnTo>
                  <a:lnTo>
                    <a:pt x="0" y="2092636"/>
                  </a:lnTo>
                  <a:close/>
                </a:path>
              </a:pathLst>
            </a:custGeom>
            <a:solidFill>
              <a:srgbClr val="FFFFFF"/>
            </a:solidFill>
            <a:ln w="38100" cap="sq">
              <a:solidFill>
                <a:srgbClr val="C1CE9A"/>
              </a:solidFill>
              <a:prstDash val="lgDash"/>
              <a:miter/>
            </a:ln>
          </p:spPr>
        </p:sp>
        <p:sp>
          <p:nvSpPr>
            <p:cNvPr name="TextBox 8" id="8"/>
            <p:cNvSpPr txBox="true"/>
            <p:nvPr/>
          </p:nvSpPr>
          <p:spPr>
            <a:xfrm>
              <a:off x="0" y="-38100"/>
              <a:ext cx="4181481" cy="213073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false" rot="0">
            <a:off x="16143268" y="-3984217"/>
            <a:ext cx="10801253" cy="5756168"/>
          </a:xfrm>
          <a:custGeom>
            <a:avLst/>
            <a:gdLst/>
            <a:ahLst/>
            <a:cxnLst/>
            <a:rect r="r" b="b" t="t" l="l"/>
            <a:pathLst>
              <a:path h="5756168" w="10801253">
                <a:moveTo>
                  <a:pt x="10801252" y="0"/>
                </a:moveTo>
                <a:lnTo>
                  <a:pt x="0" y="0"/>
                </a:lnTo>
                <a:lnTo>
                  <a:pt x="0" y="5756167"/>
                </a:lnTo>
                <a:lnTo>
                  <a:pt x="10801252" y="5756167"/>
                </a:lnTo>
                <a:lnTo>
                  <a:pt x="1080125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false" rot="0">
            <a:off x="292166" y="1438055"/>
            <a:ext cx="1312631" cy="837697"/>
          </a:xfrm>
          <a:custGeom>
            <a:avLst/>
            <a:gdLst/>
            <a:ahLst/>
            <a:cxnLst/>
            <a:rect r="r" b="b" t="t" l="l"/>
            <a:pathLst>
              <a:path h="837697" w="1312631">
                <a:moveTo>
                  <a:pt x="1312631" y="0"/>
                </a:moveTo>
                <a:lnTo>
                  <a:pt x="0" y="0"/>
                </a:lnTo>
                <a:lnTo>
                  <a:pt x="0" y="837697"/>
                </a:lnTo>
                <a:lnTo>
                  <a:pt x="1312631" y="837697"/>
                </a:lnTo>
                <a:lnTo>
                  <a:pt x="1312631"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1" id="11"/>
          <p:cNvSpPr/>
          <p:nvPr/>
        </p:nvSpPr>
        <p:spPr>
          <a:xfrm flipH="false" flipV="false" rot="0">
            <a:off x="1604797" y="308481"/>
            <a:ext cx="1581824" cy="1009491"/>
          </a:xfrm>
          <a:custGeom>
            <a:avLst/>
            <a:gdLst/>
            <a:ahLst/>
            <a:cxnLst/>
            <a:rect r="r" b="b" t="t" l="l"/>
            <a:pathLst>
              <a:path h="1009491" w="1581824">
                <a:moveTo>
                  <a:pt x="0" y="0"/>
                </a:moveTo>
                <a:lnTo>
                  <a:pt x="1581824" y="0"/>
                </a:lnTo>
                <a:lnTo>
                  <a:pt x="1581824" y="1009491"/>
                </a:lnTo>
                <a:lnTo>
                  <a:pt x="0" y="10094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2" id="12"/>
          <p:cNvSpPr/>
          <p:nvPr/>
        </p:nvSpPr>
        <p:spPr>
          <a:xfrm flipH="false" flipV="false" rot="0">
            <a:off x="16143268" y="7552514"/>
            <a:ext cx="1793964" cy="1144875"/>
          </a:xfrm>
          <a:custGeom>
            <a:avLst/>
            <a:gdLst/>
            <a:ahLst/>
            <a:cxnLst/>
            <a:rect r="r" b="b" t="t" l="l"/>
            <a:pathLst>
              <a:path h="1144875" w="1793964">
                <a:moveTo>
                  <a:pt x="0" y="0"/>
                </a:moveTo>
                <a:lnTo>
                  <a:pt x="1793964" y="0"/>
                </a:lnTo>
                <a:lnTo>
                  <a:pt x="1793964" y="1144875"/>
                </a:lnTo>
                <a:lnTo>
                  <a:pt x="0" y="11448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3" id="13"/>
          <p:cNvSpPr/>
          <p:nvPr/>
        </p:nvSpPr>
        <p:spPr>
          <a:xfrm flipH="false" flipV="false" rot="0">
            <a:off x="-8656520" y="-3984217"/>
            <a:ext cx="10801253" cy="5756168"/>
          </a:xfrm>
          <a:custGeom>
            <a:avLst/>
            <a:gdLst/>
            <a:ahLst/>
            <a:cxnLst/>
            <a:rect r="r" b="b" t="t" l="l"/>
            <a:pathLst>
              <a:path h="5756168" w="10801253">
                <a:moveTo>
                  <a:pt x="0" y="0"/>
                </a:moveTo>
                <a:lnTo>
                  <a:pt x="10801252" y="0"/>
                </a:lnTo>
                <a:lnTo>
                  <a:pt x="10801252" y="5756167"/>
                </a:lnTo>
                <a:lnTo>
                  <a:pt x="0" y="5756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469220" y="7641371"/>
            <a:ext cx="5496517" cy="2970409"/>
          </a:xfrm>
          <a:custGeom>
            <a:avLst/>
            <a:gdLst/>
            <a:ahLst/>
            <a:cxnLst/>
            <a:rect r="r" b="b" t="t" l="l"/>
            <a:pathLst>
              <a:path h="2970409" w="5496517">
                <a:moveTo>
                  <a:pt x="0" y="0"/>
                </a:moveTo>
                <a:lnTo>
                  <a:pt x="5496517" y="0"/>
                </a:lnTo>
                <a:lnTo>
                  <a:pt x="5496517" y="2970409"/>
                </a:lnTo>
                <a:lnTo>
                  <a:pt x="0" y="29704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true" flipV="false" rot="0">
            <a:off x="15260703" y="7641371"/>
            <a:ext cx="5496517" cy="2970409"/>
          </a:xfrm>
          <a:custGeom>
            <a:avLst/>
            <a:gdLst/>
            <a:ahLst/>
            <a:cxnLst/>
            <a:rect r="r" b="b" t="t" l="l"/>
            <a:pathLst>
              <a:path h="2970409" w="5496517">
                <a:moveTo>
                  <a:pt x="5496517" y="0"/>
                </a:moveTo>
                <a:lnTo>
                  <a:pt x="0" y="0"/>
                </a:lnTo>
                <a:lnTo>
                  <a:pt x="0" y="2970409"/>
                </a:lnTo>
                <a:lnTo>
                  <a:pt x="5496517" y="2970409"/>
                </a:lnTo>
                <a:lnTo>
                  <a:pt x="5496517"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6" id="16"/>
          <p:cNvSpPr/>
          <p:nvPr/>
        </p:nvSpPr>
        <p:spPr>
          <a:xfrm flipH="false" flipV="false" rot="-2219639">
            <a:off x="1258463" y="2830038"/>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2219639">
            <a:off x="1081443" y="6085672"/>
            <a:ext cx="725260" cy="417931"/>
          </a:xfrm>
          <a:custGeom>
            <a:avLst/>
            <a:gdLst/>
            <a:ahLst/>
            <a:cxnLst/>
            <a:rect r="r" b="b" t="t" l="l"/>
            <a:pathLst>
              <a:path h="417931" w="725260">
                <a:moveTo>
                  <a:pt x="0" y="0"/>
                </a:moveTo>
                <a:lnTo>
                  <a:pt x="725260" y="0"/>
                </a:lnTo>
                <a:lnTo>
                  <a:pt x="725260" y="417931"/>
                </a:lnTo>
                <a:lnTo>
                  <a:pt x="0" y="4179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8" id="18"/>
          <p:cNvSpPr txBox="true"/>
          <p:nvPr/>
        </p:nvSpPr>
        <p:spPr>
          <a:xfrm rot="0">
            <a:off x="2223354" y="1433648"/>
            <a:ext cx="14700482" cy="3532021"/>
          </a:xfrm>
          <a:prstGeom prst="rect">
            <a:avLst/>
          </a:prstGeom>
        </p:spPr>
        <p:txBody>
          <a:bodyPr anchor="t" rtlCol="false" tIns="0" lIns="0" bIns="0" rIns="0">
            <a:spAutoFit/>
          </a:bodyPr>
          <a:lstStyle/>
          <a:p>
            <a:pPr algn="l">
              <a:lnSpc>
                <a:spcPts val="3771"/>
              </a:lnSpc>
            </a:pPr>
            <a:r>
              <a:rPr lang="en-US" sz="2694" b="true">
                <a:solidFill>
                  <a:srgbClr val="65503D"/>
                </a:solidFill>
                <a:latin typeface="Jella Bold"/>
                <a:ea typeface="Jella Bold"/>
                <a:cs typeface="Jella Bold"/>
                <a:sym typeface="Jella Bold"/>
              </a:rPr>
              <a:t>  Security and Compliance: </a:t>
            </a:r>
          </a:p>
          <a:p>
            <a:pPr algn="l">
              <a:lnSpc>
                <a:spcPts val="3771"/>
              </a:lnSpc>
            </a:pPr>
            <a:r>
              <a:rPr lang="en-US" sz="2694" b="true">
                <a:solidFill>
                  <a:srgbClr val="65503D"/>
                </a:solidFill>
                <a:latin typeface="Jella Bold"/>
                <a:ea typeface="Jella Bold"/>
                <a:cs typeface="Jella Bold"/>
                <a:sym typeface="Jella Bold"/>
              </a:rPr>
              <a:t>○ System Updates: Regularly update and patch systems, manage SSL certificates.</a:t>
            </a:r>
          </a:p>
          <a:p>
            <a:pPr algn="l">
              <a:lnSpc>
                <a:spcPts val="3771"/>
              </a:lnSpc>
            </a:pPr>
            <a:r>
              <a:rPr lang="en-US" sz="2694" b="true">
                <a:solidFill>
                  <a:srgbClr val="65503D"/>
                </a:solidFill>
                <a:latin typeface="Jella Bold"/>
                <a:ea typeface="Jella Bold"/>
                <a:cs typeface="Jella Bold"/>
                <a:sym typeface="Jella Bold"/>
              </a:rPr>
              <a:t> </a:t>
            </a:r>
          </a:p>
          <a:p>
            <a:pPr algn="l">
              <a:lnSpc>
                <a:spcPts val="3771"/>
              </a:lnSpc>
            </a:pPr>
            <a:r>
              <a:rPr lang="en-US" sz="2694" b="true">
                <a:solidFill>
                  <a:srgbClr val="65503D"/>
                </a:solidFill>
                <a:latin typeface="Jella Bold"/>
                <a:ea typeface="Jella Bold"/>
                <a:cs typeface="Jella Bold"/>
                <a:sym typeface="Jella Bold"/>
              </a:rPr>
              <a:t>○ Best Practices: Enforce security best practices, conduct regular audits, and </a:t>
            </a:r>
          </a:p>
          <a:p>
            <a:pPr algn="l">
              <a:lnSpc>
                <a:spcPts val="3771"/>
              </a:lnSpc>
            </a:pPr>
            <a:r>
              <a:rPr lang="en-US" sz="2694" b="true">
                <a:solidFill>
                  <a:srgbClr val="65503D"/>
                </a:solidFill>
                <a:latin typeface="Jella Bold"/>
                <a:ea typeface="Jella Bold"/>
                <a:cs typeface="Jella Bold"/>
                <a:sym typeface="Jella Bold"/>
              </a:rPr>
              <a:t>address vulnerabilities with the security team.</a:t>
            </a:r>
          </a:p>
          <a:p>
            <a:pPr algn="l">
              <a:lnSpc>
                <a:spcPts val="3771"/>
              </a:lnSpc>
            </a:pPr>
          </a:p>
        </p:txBody>
      </p:sp>
      <p:sp>
        <p:nvSpPr>
          <p:cNvPr name="TextBox 19" id="19"/>
          <p:cNvSpPr txBox="true"/>
          <p:nvPr/>
        </p:nvSpPr>
        <p:spPr>
          <a:xfrm rot="0">
            <a:off x="2106940" y="5098805"/>
            <a:ext cx="14933310" cy="2950464"/>
          </a:xfrm>
          <a:prstGeom prst="rect">
            <a:avLst/>
          </a:prstGeom>
        </p:spPr>
        <p:txBody>
          <a:bodyPr anchor="t" rtlCol="false" tIns="0" lIns="0" bIns="0" rIns="0">
            <a:spAutoFit/>
          </a:bodyPr>
          <a:lstStyle/>
          <a:p>
            <a:pPr algn="l">
              <a:lnSpc>
                <a:spcPts val="4325"/>
              </a:lnSpc>
            </a:pPr>
            <a:r>
              <a:rPr lang="en-US" sz="3089" b="true">
                <a:solidFill>
                  <a:srgbClr val="65503D"/>
                </a:solidFill>
                <a:latin typeface="Jella Bold"/>
                <a:ea typeface="Jella Bold"/>
                <a:cs typeface="Jella Bold"/>
                <a:sym typeface="Jella Bold"/>
              </a:rPr>
              <a:t> Overall, my role ensures that our infrastructure is robust, deployment processes are efficient, and systems are secure and performant, while fostering a  collaborative environment across teams.</a:t>
            </a:r>
          </a:p>
          <a:p>
            <a:pPr algn="l">
              <a:lnSpc>
                <a:spcPts val="4325"/>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3020850" y="1771950"/>
            <a:ext cx="12246300" cy="6271126"/>
          </a:xfrm>
          <a:custGeom>
            <a:avLst/>
            <a:gdLst/>
            <a:ahLst/>
            <a:cxnLst/>
            <a:rect r="r" b="b" t="t" l="l"/>
            <a:pathLst>
              <a:path h="6271126" w="12246300">
                <a:moveTo>
                  <a:pt x="0" y="0"/>
                </a:moveTo>
                <a:lnTo>
                  <a:pt x="12246300" y="0"/>
                </a:lnTo>
                <a:lnTo>
                  <a:pt x="12246300" y="6271127"/>
                </a:lnTo>
                <a:lnTo>
                  <a:pt x="0" y="62711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6143268" y="-3984217"/>
            <a:ext cx="10801253" cy="5756168"/>
          </a:xfrm>
          <a:custGeom>
            <a:avLst/>
            <a:gdLst/>
            <a:ahLst/>
            <a:cxnLst/>
            <a:rect r="r" b="b" t="t" l="l"/>
            <a:pathLst>
              <a:path h="5756168" w="10801253">
                <a:moveTo>
                  <a:pt x="10801252" y="0"/>
                </a:moveTo>
                <a:lnTo>
                  <a:pt x="0" y="0"/>
                </a:lnTo>
                <a:lnTo>
                  <a:pt x="0" y="5756167"/>
                </a:lnTo>
                <a:lnTo>
                  <a:pt x="10801252" y="5756167"/>
                </a:lnTo>
                <a:lnTo>
                  <a:pt x="10801252"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8656520" y="-3984217"/>
            <a:ext cx="10801253" cy="5756168"/>
          </a:xfrm>
          <a:custGeom>
            <a:avLst/>
            <a:gdLst/>
            <a:ahLst/>
            <a:cxnLst/>
            <a:rect r="r" b="b" t="t" l="l"/>
            <a:pathLst>
              <a:path h="5756168" w="10801253">
                <a:moveTo>
                  <a:pt x="0" y="0"/>
                </a:moveTo>
                <a:lnTo>
                  <a:pt x="10801252" y="0"/>
                </a:lnTo>
                <a:lnTo>
                  <a:pt x="10801252" y="5756167"/>
                </a:lnTo>
                <a:lnTo>
                  <a:pt x="0" y="57561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17919" y="7641371"/>
            <a:ext cx="5496517" cy="2970409"/>
          </a:xfrm>
          <a:custGeom>
            <a:avLst/>
            <a:gdLst/>
            <a:ahLst/>
            <a:cxnLst/>
            <a:rect r="r" b="b" t="t" l="l"/>
            <a:pathLst>
              <a:path h="2970409" w="5496517">
                <a:moveTo>
                  <a:pt x="0" y="0"/>
                </a:moveTo>
                <a:lnTo>
                  <a:pt x="5496517" y="0"/>
                </a:lnTo>
                <a:lnTo>
                  <a:pt x="5496517" y="2970409"/>
                </a:lnTo>
                <a:lnTo>
                  <a:pt x="0" y="29704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false" rot="0">
            <a:off x="14309402" y="7641371"/>
            <a:ext cx="5496517" cy="2970409"/>
          </a:xfrm>
          <a:custGeom>
            <a:avLst/>
            <a:gdLst/>
            <a:ahLst/>
            <a:cxnLst/>
            <a:rect r="r" b="b" t="t" l="l"/>
            <a:pathLst>
              <a:path h="2970409" w="5496517">
                <a:moveTo>
                  <a:pt x="5496517" y="0"/>
                </a:moveTo>
                <a:lnTo>
                  <a:pt x="0" y="0"/>
                </a:lnTo>
                <a:lnTo>
                  <a:pt x="0" y="2970409"/>
                </a:lnTo>
                <a:lnTo>
                  <a:pt x="5496517" y="2970409"/>
                </a:lnTo>
                <a:lnTo>
                  <a:pt x="5496517"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8" id="8"/>
          <p:cNvSpPr txBox="true"/>
          <p:nvPr/>
        </p:nvSpPr>
        <p:spPr>
          <a:xfrm rot="0">
            <a:off x="4276960" y="4392963"/>
            <a:ext cx="9734081" cy="1580712"/>
          </a:xfrm>
          <a:prstGeom prst="rect">
            <a:avLst/>
          </a:prstGeom>
        </p:spPr>
        <p:txBody>
          <a:bodyPr anchor="t" rtlCol="false" tIns="0" lIns="0" bIns="0" rIns="0">
            <a:spAutoFit/>
          </a:bodyPr>
          <a:lstStyle/>
          <a:p>
            <a:pPr algn="ctr" marL="0" indent="0" lvl="0">
              <a:lnSpc>
                <a:spcPts val="12527"/>
              </a:lnSpc>
              <a:spcBef>
                <a:spcPct val="0"/>
              </a:spcBef>
            </a:pPr>
            <a:r>
              <a:rPr lang="en-US" sz="10616" spc="594">
                <a:solidFill>
                  <a:srgbClr val="65503D"/>
                </a:solidFill>
                <a:latin typeface="Wedges"/>
                <a:ea typeface="Wedges"/>
                <a:cs typeface="Wedges"/>
                <a:sym typeface="Wedges"/>
              </a:rPr>
              <a:t>THANK YOU</a:t>
            </a:r>
          </a:p>
        </p:txBody>
      </p:sp>
      <p:sp>
        <p:nvSpPr>
          <p:cNvPr name="Freeform 9" id="9"/>
          <p:cNvSpPr/>
          <p:nvPr/>
        </p:nvSpPr>
        <p:spPr>
          <a:xfrm flipH="true" flipV="false" rot="0">
            <a:off x="12717123" y="5460741"/>
            <a:ext cx="1339023" cy="1025868"/>
          </a:xfrm>
          <a:custGeom>
            <a:avLst/>
            <a:gdLst/>
            <a:ahLst/>
            <a:cxnLst/>
            <a:rect r="r" b="b" t="t" l="l"/>
            <a:pathLst>
              <a:path h="1025868" w="1339023">
                <a:moveTo>
                  <a:pt x="1339024" y="0"/>
                </a:moveTo>
                <a:lnTo>
                  <a:pt x="0" y="0"/>
                </a:lnTo>
                <a:lnTo>
                  <a:pt x="0" y="1025868"/>
                </a:lnTo>
                <a:lnTo>
                  <a:pt x="1339024" y="1025868"/>
                </a:lnTo>
                <a:lnTo>
                  <a:pt x="1339024"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5704622">
            <a:off x="3714588" y="3808059"/>
            <a:ext cx="1124744" cy="990889"/>
          </a:xfrm>
          <a:custGeom>
            <a:avLst/>
            <a:gdLst/>
            <a:ahLst/>
            <a:cxnLst/>
            <a:rect r="r" b="b" t="t" l="l"/>
            <a:pathLst>
              <a:path h="990889" w="1124744">
                <a:moveTo>
                  <a:pt x="0" y="0"/>
                </a:moveTo>
                <a:lnTo>
                  <a:pt x="1124743" y="0"/>
                </a:lnTo>
                <a:lnTo>
                  <a:pt x="1124743" y="990889"/>
                </a:lnTo>
                <a:lnTo>
                  <a:pt x="0" y="9908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DAG7Fg98Mwk</dc:identifier>
  <dcterms:modified xsi:type="dcterms:W3CDTF">2011-08-01T06:04:30Z</dcterms:modified>
  <cp:revision>1</cp:revision>
  <dc:title>Most Asked/Faced interview Questions and best answers </dc:title>
</cp:coreProperties>
</file>